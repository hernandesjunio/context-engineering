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508bad29df4c59" /><Relationship Type="http://schemas.openxmlformats.org/officeDocument/2006/relationships/extended-properties" Target="/docProps/app.xml" Id="Raa7f9abb89f54c95" /><Relationship Type="http://schemas.openxmlformats.org/officeDocument/2006/relationships/officeDocument" Target="/ppt/presentation.xml" Id="Rb034f0f38544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3be392c6c14a13"/>
  </p:sldMasterIdLst>
  <p:notesMasterIdLst>
    <p:notesMasterId xmlns:r="http://schemas.openxmlformats.org/officeDocument/2006/relationships" r:id="R66ee7f3763174f0c"/>
  </p:notesMasterIdLst>
  <p:sldIdLst>
    <p:sldId xmlns:r="http://schemas.openxmlformats.org/officeDocument/2006/relationships" id="256" r:id="R56dc669623574851"/>
    <p:sldId xmlns:r="http://schemas.openxmlformats.org/officeDocument/2006/relationships" id="257" r:id="R0ce5c61560974134"/>
    <p:sldId xmlns:r="http://schemas.openxmlformats.org/officeDocument/2006/relationships" id="258" r:id="Rb0bc8f05891a4e6e"/>
    <p:sldId xmlns:r="http://schemas.openxmlformats.org/officeDocument/2006/relationships" id="259" r:id="Rd679df1ddce946ea"/>
    <p:sldId xmlns:r="http://schemas.openxmlformats.org/officeDocument/2006/relationships" id="260" r:id="R004b154a06804606"/>
    <p:sldId xmlns:r="http://schemas.openxmlformats.org/officeDocument/2006/relationships" id="261" r:id="R1fad7df6962b48a4"/>
    <p:sldId xmlns:r="http://schemas.openxmlformats.org/officeDocument/2006/relationships" id="262" r:id="R0f128dc38b8e4005"/>
    <p:sldId xmlns:r="http://schemas.openxmlformats.org/officeDocument/2006/relationships" id="263" r:id="R26c7e822ba56460f"/>
    <p:sldId xmlns:r="http://schemas.openxmlformats.org/officeDocument/2006/relationships" id="264" r:id="Rb7b4ac835b2747f8"/>
    <p:sldId xmlns:r="http://schemas.openxmlformats.org/officeDocument/2006/relationships" id="265" r:id="R1a813e726da84577"/>
    <p:sldId xmlns:r="http://schemas.openxmlformats.org/officeDocument/2006/relationships" id="266" r:id="R54f6680e7351458d"/>
    <p:sldId xmlns:r="http://schemas.openxmlformats.org/officeDocument/2006/relationships" id="267" r:id="Reb2f7f0211d34fa1"/>
    <p:sldId xmlns:r="http://schemas.openxmlformats.org/officeDocument/2006/relationships" id="268" r:id="R56a57e23919b4435"/>
    <p:sldId xmlns:r="http://schemas.openxmlformats.org/officeDocument/2006/relationships" id="269" r:id="R34392630490a487b"/>
    <p:sldId xmlns:r="http://schemas.openxmlformats.org/officeDocument/2006/relationships" id="270" r:id="Re8cd928538c1429a"/>
    <p:sldId xmlns:r="http://schemas.openxmlformats.org/officeDocument/2006/relationships" id="271" r:id="R1fa5a7c602f742d7"/>
    <p:sldId xmlns:r="http://schemas.openxmlformats.org/officeDocument/2006/relationships" id="272" r:id="R542acbd543d94117"/>
    <p:sldId xmlns:r="http://schemas.openxmlformats.org/officeDocument/2006/relationships" id="273" r:id="Rb56a183ad9b84c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d0a4d5d9e84b31" /><Relationship Type="http://schemas.openxmlformats.org/officeDocument/2006/relationships/slideMaster" Target="/ppt/slideMasters/slideMaster1.xml" Id="R693be392c6c14a13" /><Relationship Type="http://schemas.openxmlformats.org/officeDocument/2006/relationships/notesMaster" Target="/ppt/notesMasters/notesMaster1.xml" Id="R66ee7f3763174f0c" /><Relationship Type="http://schemas.openxmlformats.org/officeDocument/2006/relationships/presProps" Target="/ppt/presProps.xml" Id="Ra730844d37534740" /><Relationship Type="http://schemas.openxmlformats.org/officeDocument/2006/relationships/tableStyles" Target="/ppt/tableStyles.xml" Id="Rca59e36608414d13" /><Relationship Type="http://schemas.openxmlformats.org/officeDocument/2006/relationships/slide" Target="/ppt/slides/slide1.xml" Id="R56dc669623574851" /><Relationship Type="http://schemas.openxmlformats.org/officeDocument/2006/relationships/slide" Target="/ppt/slides/slide2.xml" Id="R0ce5c61560974134" /><Relationship Type="http://schemas.openxmlformats.org/officeDocument/2006/relationships/slide" Target="/ppt/slides/slide3.xml" Id="Rb0bc8f05891a4e6e" /><Relationship Type="http://schemas.openxmlformats.org/officeDocument/2006/relationships/slide" Target="/ppt/slides/slide4.xml" Id="Rd679df1ddce946ea" /><Relationship Type="http://schemas.openxmlformats.org/officeDocument/2006/relationships/slide" Target="/ppt/slides/slide5.xml" Id="R004b154a06804606" /><Relationship Type="http://schemas.openxmlformats.org/officeDocument/2006/relationships/slide" Target="/ppt/slides/slide6.xml" Id="R1fad7df6962b48a4" /><Relationship Type="http://schemas.openxmlformats.org/officeDocument/2006/relationships/slide" Target="/ppt/slides/slide7.xml" Id="R0f128dc38b8e4005" /><Relationship Type="http://schemas.openxmlformats.org/officeDocument/2006/relationships/slide" Target="/ppt/slides/slide8.xml" Id="R26c7e822ba56460f" /><Relationship Type="http://schemas.openxmlformats.org/officeDocument/2006/relationships/slide" Target="/ppt/slides/slide9.xml" Id="Rb7b4ac835b2747f8" /><Relationship Type="http://schemas.openxmlformats.org/officeDocument/2006/relationships/slide" Target="/ppt/slides/slide10.xml" Id="R1a813e726da84577" /><Relationship Type="http://schemas.openxmlformats.org/officeDocument/2006/relationships/slide" Target="/ppt/slides/slide11.xml" Id="R54f6680e7351458d" /><Relationship Type="http://schemas.openxmlformats.org/officeDocument/2006/relationships/slide" Target="/ppt/slides/slide12.xml" Id="Reb2f7f0211d34fa1" /><Relationship Type="http://schemas.openxmlformats.org/officeDocument/2006/relationships/slide" Target="/ppt/slides/slide13.xml" Id="R56a57e23919b4435" /><Relationship Type="http://schemas.openxmlformats.org/officeDocument/2006/relationships/slide" Target="/ppt/slides/slide14.xml" Id="R34392630490a487b" /><Relationship Type="http://schemas.openxmlformats.org/officeDocument/2006/relationships/slide" Target="/ppt/slides/slide15.xml" Id="Re8cd928538c1429a" /><Relationship Type="http://schemas.openxmlformats.org/officeDocument/2006/relationships/slide" Target="/ppt/slides/slide16.xml" Id="R1fa5a7c602f742d7" /><Relationship Type="http://schemas.openxmlformats.org/officeDocument/2006/relationships/slide" Target="/ppt/slides/slide17.xml" Id="R542acbd543d94117" /><Relationship Type="http://schemas.openxmlformats.org/officeDocument/2006/relationships/slide" Target="/ppt/slides/slide18.xml" Id="Rb56a183ad9b84c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66432a2c234d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fba62dc9714902" /><Relationship Type="http://schemas.openxmlformats.org/officeDocument/2006/relationships/notesMaster" Target="/ppt/notesMasters/notesMaster1.xml" Id="Rbf2c182b152a42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87076cc7754f7a" /><Relationship Type="http://schemas.openxmlformats.org/officeDocument/2006/relationships/notesMaster" Target="/ppt/notesMasters/notesMaster1.xml" Id="R7e2873577886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e12983831c463d" /><Relationship Type="http://schemas.openxmlformats.org/officeDocument/2006/relationships/notesMaster" Target="/ppt/notesMasters/notesMaster1.xml" Id="R2a76435a2ad746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03584907cc4392" /><Relationship Type="http://schemas.openxmlformats.org/officeDocument/2006/relationships/notesMaster" Target="/ppt/notesMasters/notesMaster1.xml" Id="Rb0fc3fe73fad4f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6191686efa4edb" /><Relationship Type="http://schemas.openxmlformats.org/officeDocument/2006/relationships/notesMaster" Target="/ppt/notesMasters/notesMaster1.xml" Id="R7ed740d950f145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10e991f0a0437c" /><Relationship Type="http://schemas.openxmlformats.org/officeDocument/2006/relationships/notesMaster" Target="/ppt/notesMasters/notesMaster1.xml" Id="Rc5495e5bde3048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0b9d8b9fc7484b" /><Relationship Type="http://schemas.openxmlformats.org/officeDocument/2006/relationships/notesMaster" Target="/ppt/notesMasters/notesMaster1.xml" Id="R739c4d23c3fd41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c7f8faaffd4e0d" /><Relationship Type="http://schemas.openxmlformats.org/officeDocument/2006/relationships/notesMaster" Target="/ppt/notesMasters/notesMaster1.xml" Id="R457121b09ed54f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3a6901eef45be" /><Relationship Type="http://schemas.openxmlformats.org/officeDocument/2006/relationships/notesMaster" Target="/ppt/notesMasters/notesMaster1.xml" Id="R05b62a634a374a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d530b59f18450e" /><Relationship Type="http://schemas.openxmlformats.org/officeDocument/2006/relationships/notesMaster" Target="/ppt/notesMasters/notesMaster1.xml" Id="R845ce8fa603a4b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3fb7e3db02407d" /><Relationship Type="http://schemas.openxmlformats.org/officeDocument/2006/relationships/notesMaster" Target="/ppt/notesMasters/notesMaster1.xml" Id="Rdff79e65ab294b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7af5702ca448f7" /><Relationship Type="http://schemas.openxmlformats.org/officeDocument/2006/relationships/notesMaster" Target="/ppt/notesMasters/notesMaster1.xml" Id="R3caebc877e5d4f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4575f9d5d7455d" /><Relationship Type="http://schemas.openxmlformats.org/officeDocument/2006/relationships/notesMaster" Target="/ppt/notesMasters/notesMaster1.xml" Id="R78040cb1728941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e0020404d24f64" /><Relationship Type="http://schemas.openxmlformats.org/officeDocument/2006/relationships/notesMaster" Target="/ppt/notesMasters/notesMaster1.xml" Id="R2dcf65f75ff147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0486385f714700" /><Relationship Type="http://schemas.openxmlformats.org/officeDocument/2006/relationships/notesMaster" Target="/ppt/notesMasters/notesMaster1.xml" Id="R17bd178eab8f4d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231daed57547c5" /><Relationship Type="http://schemas.openxmlformats.org/officeDocument/2006/relationships/notesMaster" Target="/ppt/notesMasters/notesMaster1.xml" Id="Rb3c844ee07464e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2f0c0f7bff4e36" /><Relationship Type="http://schemas.openxmlformats.org/officeDocument/2006/relationships/notesMaster" Target="/ppt/notesMasters/notesMaster1.xml" Id="R3512ad69110845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88620dbf6840fd" /><Relationship Type="http://schemas.openxmlformats.org/officeDocument/2006/relationships/notesMaster" Target="/ppt/notesMasters/notesMaster1.xml" Id="R42154c86d0d6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objetivo: transformar conteúdo misturado em contexto Cursor-first recuperável, executável e auditável. A apresentação mostra o mapa; o e-book V4 e o laboratório trazem os arquivos completos.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Ilustração original gerada por IA para este material, 2026-08-05.</a:t>
            </a:r>
          </a:p>
          <a:p xmlns:a="http://schemas.openxmlformats.org/drawingml/2006/main">
            <a:r>
              <a:t>- E-book Context Engineering para Times de Desenvolvimento, edição V4.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um repositório cheio de orientações não garante uma execução correta. A pergunta prática é: a informação certa chega no momento certo, em formato acionável e com evidência?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Anthropic, Context Engineering for AI Agents: https://www.anthropic.com/engineering/effective-context-engineering-for-ai-agents</a:t>
            </a:r>
          </a:p>
          <a:p xmlns:a="http://schemas.openxmlformats.org/drawingml/2006/main">
            <a:r>
              <a:t>- Liu et al., Lost in the Middle: https://arxiv.org/abs/2307.03172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Leia somente um trecho do lado esquerdo e peça ao time para identificar quantas responsabilidades existem. Depois revele a separação do lado direito. O e-book traz o exemplo caótico completo e sua decomposição.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cada artefato digital a um objeto conhecido da oficina. A metáfora reduz resistência porque explica por que uma lista de peças não basta para montar um motor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refatoração como experimento, não como reorganização estética. A saída de cada etapa deve ser verificável antes da próxima expansão.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HOT não é sinônimo de arquivo do agente inteiro. É a camada necessária para decidir, rotear e interromper com segurança. Detalhes operacionais ficam em artefatos acionados sob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Skills specification, Progressive disclosure: https://agentskills.io/specification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Reforce que nem tudo que pode ser segregado vira skill. A estrutura de pastas inspirada em Agent Skills também pode organizar outros artefatos, desde que o tipo e a semântica permaneçam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Skills overview: https://agentskills.io/home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localização de semântica. Rules, agents, skills, hooks.json e mcp.json possuem mecanismos do Cursor. Playbooks, knowledge, contracts, evals e evidence são convenções deste modelo e exigem referência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Cursor Rules: https://cursor.com/docs/rules</a:t>
            </a:r>
          </a:p>
          <a:p xmlns:a="http://schemas.openxmlformats.org/drawingml/2006/main">
            <a:r>
              <a:t>- Cursor Agent Skills: https://cursor.com/docs/skills</a:t>
            </a:r>
          </a:p>
          <a:p xmlns:a="http://schemas.openxmlformats.org/drawingml/2006/main">
            <a:r>
              <a:t>- Cursor Subagents: https://cursor.com/docs/subagents</a:t>
            </a:r>
          </a:p>
          <a:p xmlns:a="http://schemas.openxmlformats.org/drawingml/2006/main">
            <a:r>
              <a:t>- Cursor Hooks: https://cursor.com/docs/hooks</a:t>
            </a:r>
          </a:p>
          <a:p xmlns:a="http://schemas.openxmlformats.org/drawingml/2006/main">
            <a:r>
              <a:t>- Cursor MCP: https://cursor.com/docs/mcp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pasta organizada não é automaticamente carregada. Identifique o consumidor concreto de cada transição e registre a evidência de ativação ou recuperação.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Cursor Docs: https://cursor.com/docs</a:t>
            </a:r>
          </a:p>
          <a:p xmlns:a="http://schemas.openxmlformats.org/drawingml/2006/main">
            <a:r>
              <a:t>- Agent Skills specification: https://agentskills.io/specification</a:t>
            </a:r>
          </a:p>
          <a:p xmlns:a="http://schemas.openxmlformats.org/drawingml/2006/main">
            <a:r>
              <a:t>- E-book Context Engineering para Times de Desenvolvimento, edição V4.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classificação reduz o carregamento padrão, mas não garante economia sozinha. A economia depende de gatilhos, granularidade, recuperação e ausência de duplicação.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 modelo híbrido para evitar que uma única classificação tente responder perguntas diferentes. Nesta apresentação, aprofundamos apenas temperatura; os outros eixos ficam como extensão opcional no e-book.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prometer economia automática. A métrica mais honesta combina custo, sucesso, latência e retrabalho. Um contexto mais curto só é melhor se ainda contiver o necessário para concluir a tarefa.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Anthropic, Context Engineering for AI Agents: https://www.anthropic.com/engineering/effective-context-engineering-for-ai-agents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o ciclo inteiro: o autor do eval deriva assertions de fontes aprovadas; o agente sob avaliação consome o corpus; o Eval Runner captura fatos; o avaliador compara esperado e observado; o Evidence Recorder grava o veredito.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origem dos campos: o autor do eval os produz a partir do documento original, das regras e dos contracts aprovados. Eles não vêm de uma API. Use lowerCamelCase nos schemas próprios do livro; preserve nomes exigidos por contratos externos.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vender estas técnicas como cura de alucinação. Elas reduzem classes específicas de erro e tornam falhas observáveis. A qualidade final também depende do modelo, das ferramentas, dos dados e das avaliações.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 Curse of Instructions: https://arxiv.org/abs/2404.00906</a:t>
            </a:r>
          </a:p>
          <a:p xmlns:a="http://schemas.openxmlformats.org/drawingml/2006/main">
            <a:r>
              <a:t>- Understanding the Effect of Negation: https://arxiv.org/abs/2402.05159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exemplo é semi-completo: mostra contrato HTTP, job, estado, SignalR, reconciliação, eval e evidence; omite segurança e infraestrutura detalhadas. SignalR não é fonte de verdade.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Learn, ASP.NET Core SignalR: https://learn.microsoft.com/aspnet/core/signalr/introduction</a:t>
            </a:r>
          </a:p>
          <a:p xmlns:a="http://schemas.openxmlformats.org/drawingml/2006/main">
            <a:r>
              <a:t>- Microsoft Learn, Hosted Services: https://learn.microsoft.com/aspnet/core/fundamentals/host/hosted-services</a:t>
            </a:r>
          </a:p>
          <a:p xmlns:a="http://schemas.openxmlformats.org/drawingml/2006/main">
            <a:r>
              <a:t>- E-book Context Engineering para Times de Desenvolvimento, edição V4.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Comece com um domínio e uma baseline. Escale somente quando recuperação, aplicação, custo e manutenção forem observáveis. A V4 entrega o Kit A, contexto sob avaliação, e o Kit B, harness de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Convide o time a executar o laboratório, preservar o baseline e revisar o Evidence Record. O e-book contém o método, os exemplos e as referências.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0233ea9b04d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82f381d0f74857" /><Relationship Type="http://schemas.openxmlformats.org/officeDocument/2006/relationships/slideLayout" Target="/ppt/slideLayouts/slideLayout1.xml" Id="R3a2b1b69ef354c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b1b69ef354c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5740c3d2c4a5c" /><Relationship Type="http://schemas.openxmlformats.org/officeDocument/2006/relationships/image" Target="/ppt/media/image.png" Id="Rb2935df0088e4575" /><Relationship Type="http://schemas.openxmlformats.org/officeDocument/2006/relationships/notesSlide" Target="/ppt/notesSlides/notesSlide1.xml" Id="R5c4fe791833d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a7816a5b1495f" /><Relationship Type="http://schemas.openxmlformats.org/officeDocument/2006/relationships/image" Target="/ppt/media/image2.png" Id="R4c1efc18a7fd4dae" /><Relationship Type="http://schemas.openxmlformats.org/officeDocument/2006/relationships/notesSlide" Target="/ppt/notesSlides/notesSlide2.xml" Id="R60f6dbcb1c3045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85cb6684e424e" /><Relationship Type="http://schemas.openxmlformats.org/officeDocument/2006/relationships/image" Target="/ppt/media/image3.png" Id="Rb0a98d982923447d" /><Relationship Type="http://schemas.openxmlformats.org/officeDocument/2006/relationships/notesSlide" Target="/ppt/notesSlides/notesSlide3.xml" Id="R8708130925544a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5aea0cd0d4631" /><Relationship Type="http://schemas.openxmlformats.org/officeDocument/2006/relationships/image" Target="/ppt/media/image4.png" Id="R9e80586355bb4c4f" /><Relationship Type="http://schemas.openxmlformats.org/officeDocument/2006/relationships/notesSlide" Target="/ppt/notesSlides/notesSlide4.xml" Id="R1bbe2aa6306c46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114baa083425a" /><Relationship Type="http://schemas.openxmlformats.org/officeDocument/2006/relationships/image" Target="/ppt/media/image5.png" Id="R679630cf1b264aec" /><Relationship Type="http://schemas.openxmlformats.org/officeDocument/2006/relationships/notesSlide" Target="/ppt/notesSlides/notesSlide5.xml" Id="Re8646859523d43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93cecf6364b7e" /><Relationship Type="http://schemas.openxmlformats.org/officeDocument/2006/relationships/image" Target="/ppt/media/image6.png" Id="R5a6e08cfa4d749a5" /><Relationship Type="http://schemas.openxmlformats.org/officeDocument/2006/relationships/notesSlide" Target="/ppt/notesSlides/notesSlide6.xml" Id="Re5b22f17d63449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4e023c78a41e9" /><Relationship Type="http://schemas.openxmlformats.org/officeDocument/2006/relationships/image" Target="/ppt/media/image7.png" Id="R61fc74594da24541" /><Relationship Type="http://schemas.openxmlformats.org/officeDocument/2006/relationships/image" Target="/ppt/media/image8.png" Id="R766b6c9772ea439d" /><Relationship Type="http://schemas.openxmlformats.org/officeDocument/2006/relationships/image" Target="/ppt/media/image9.png" Id="R80edc819f9de438b" /><Relationship Type="http://schemas.openxmlformats.org/officeDocument/2006/relationships/notesSlide" Target="/ppt/notesSlides/notesSlide7.xml" Id="R03161845a7f04e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f711f82414151" /><Relationship Type="http://schemas.openxmlformats.org/officeDocument/2006/relationships/image" Target="/ppt/media/image10.png" Id="Rfef010e19d314384" /><Relationship Type="http://schemas.openxmlformats.org/officeDocument/2006/relationships/notesSlide" Target="/ppt/notesSlides/notesSlide8.xml" Id="R3856caabd4fa41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622c637954c0e" /><Relationship Type="http://schemas.openxmlformats.org/officeDocument/2006/relationships/image" Target="/ppt/media/image11.png" Id="R692b2566b4344acf" /><Relationship Type="http://schemas.openxmlformats.org/officeDocument/2006/relationships/notesSlide" Target="/ppt/notesSlides/notesSlide9.xml" Id="R24432aa394c549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18c569154f69" /><Relationship Type="http://schemas.openxmlformats.org/officeDocument/2006/relationships/image" Target="/ppt/media/image12.png" Id="R87483c540aab4e4e" /><Relationship Type="http://schemas.openxmlformats.org/officeDocument/2006/relationships/notesSlide" Target="/ppt/notesSlides/notesSlide10.xml" Id="Ref3c7a85ba6344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1c6d742424dce" /><Relationship Type="http://schemas.openxmlformats.org/officeDocument/2006/relationships/image" Target="/ppt/media/image13.png" Id="Rbf26b635abeb472c" /><Relationship Type="http://schemas.openxmlformats.org/officeDocument/2006/relationships/notesSlide" Target="/ppt/notesSlides/notesSlide11.xml" Id="R20e5c995abea47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d04e62b064c92" /><Relationship Type="http://schemas.openxmlformats.org/officeDocument/2006/relationships/image" Target="/ppt/media/image14.png" Id="Ra7e66dbc3d8e4d0e" /><Relationship Type="http://schemas.openxmlformats.org/officeDocument/2006/relationships/notesSlide" Target="/ppt/notesSlides/notesSlide12.xml" Id="R392cc2ae3fa14d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57485ff024403" /><Relationship Type="http://schemas.openxmlformats.org/officeDocument/2006/relationships/image" Target="/ppt/media/image15.png" Id="R18843764f0234173" /><Relationship Type="http://schemas.openxmlformats.org/officeDocument/2006/relationships/notesSlide" Target="/ppt/notesSlides/notesSlide13.xml" Id="Rae21fc54444a4c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96e06b406466d" /><Relationship Type="http://schemas.openxmlformats.org/officeDocument/2006/relationships/image" Target="/ppt/media/image16.png" Id="R9f955c5bec184b2b" /><Relationship Type="http://schemas.openxmlformats.org/officeDocument/2006/relationships/notesSlide" Target="/ppt/notesSlides/notesSlide14.xml" Id="R24c30693005a41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8c32da1d74638" /><Relationship Type="http://schemas.openxmlformats.org/officeDocument/2006/relationships/image" Target="/ppt/media/image17.png" Id="R8fb7863f65534b0e" /><Relationship Type="http://schemas.openxmlformats.org/officeDocument/2006/relationships/notesSlide" Target="/ppt/notesSlides/notesSlide15.xml" Id="R695f5cc2f1d44f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6c8ee186a4a18" /><Relationship Type="http://schemas.openxmlformats.org/officeDocument/2006/relationships/image" Target="/ppt/media/image18.png" Id="R5b0e903b29264d24" /><Relationship Type="http://schemas.openxmlformats.org/officeDocument/2006/relationships/notesSlide" Target="/ppt/notesSlides/notesSlide16.xml" Id="R7cccbb4654de42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245dac06242dc" /><Relationship Type="http://schemas.openxmlformats.org/officeDocument/2006/relationships/image" Target="/ppt/media/image19.png" Id="Rdefaee58c1aa4e7e" /><Relationship Type="http://schemas.openxmlformats.org/officeDocument/2006/relationships/notesSlide" Target="/ppt/notesSlides/notesSlide17.xml" Id="Re484d21973fa40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d853bd9084eb6" /><Relationship Type="http://schemas.openxmlformats.org/officeDocument/2006/relationships/image" Target="/ppt/media/image20.png" Id="R835d86b4212b4c21" /><Relationship Type="http://schemas.openxmlformats.org/officeDocument/2006/relationships/notesSlide" Target="/ppt/notesSlides/notesSlide18.xml" Id="R4afa03721a424a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9B13703-F135-42CC-A41E-F03A3791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D7B4EF-0158-4176-B54F-BE6F6257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C2F3"/>
                </a:solidFill>
                <a:latin typeface="Helvetica Neue"/>
                <a:ea typeface="Helvetica Neue"/>
                <a:cs typeface="Helvetica Neue"/>
              </a:rPr>
              <a:t>EDIÇÃO V4 · CURSOR-FIRST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6D4CA140-57BF-420B-AD80-665430FF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F5A00F33-9D7B-4517-8459-EFED6EF1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Organize o contexto.
Preserve a atenção.
Prove a execução.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Agentes, skills, playbooks e conhecimento em uma arquitetura progressiva, testável e auditável.
E-book complementar com 53 páginas.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AFAE2-F5E8-4F8E-A1E0-3082708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35df0088e4575"/>
          <a:srcRect xmlns:a="http://schemas.openxmlformats.org/drawingml/2006/main" l="0" t="16292" r="0" b="16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8" name="context-tree">
            <a:extLst xmlns:a="http://schemas.openxmlformats.org/drawingml/2006/main">
              <a:ext uri="{FF2B5EF4-FFF2-40B4-BE49-F238E27FC236}">
                <a16:creationId xmlns:a16="http://schemas.microsoft.com/office/drawing/2014/main" id="{28A68F18-FD3D-4119-B35B-3D8D597C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ai-context/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├── agent/     ├── playbooks/     ├── skills/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├── knowledge/ ├── contracts/     ├── evals/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└── evidence/</a:t>
            </a:r>
          </a:p>
        </p:txBody>
      </p:sp>
      <p:sp>
        <p:nvSpPr>
          <p:cNvPr id="9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0EF67EA7-396D-4E58-8C25-6B9D78F5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Hernandes Junio de Assis · autor</a:t>
            </a:r>
          </a:p>
        </p:txBody>
      </p:sp>
    </p:spTree>
    <p:extLst>
      <p:ext uri="{BB962C8B-B14F-4D97-AF65-F5344CB8AC3E}">
        <p14:creationId xmlns:p14="http://schemas.microsoft.com/office/powerpoint/2010/main" val="1054543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08D30147-716B-49E9-A058-F6424DB3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problema não é falta de conteúdo.
É falta de contexto organizado.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3900ED8-7B48-42CB-ADBF-3FE67039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Mais instruções podem aumentar ambiguidade, competição por atenção e dificuldade de recuperação.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C28D9D-A1CE-47A5-819D-60395CF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O PONTO DE PARTIDA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D1139-5D80-4E16-9C49-96A6E761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efc18a7fd4dae"/>
          <a:stretch xmlns:a="http://schemas.openxmlformats.org/drawingml/2006/main"/>
        </p:blipFill>
        <p:spPr>
          <a:xfrm xmlns:a="http://schemas.openxmlformats.org/drawingml/2006/main">
            <a:off x="9572625" y="2951389"/>
            <a:ext cx="1809750" cy="14219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6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458DAB7-330D-41DC-9779-631773A2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9875B8-2A96-4AAD-A7FA-BDD466B6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 arquivo caótico à separação por responsabilidade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1E046CB-83E5-4DD8-973B-8205FAFB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1E1BFEF-25BF-4213-8D5C-31C383A5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ANTES · tudo junto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AB0A4B2-622E-4442-8495-910CE8DB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“Aperte a 90 Nm, valide a vedação, consulte a tabela...”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Contrato + regra + playbook + referência na mesma página.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Difícil ativar e difícil testar.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52ED0842-5E0F-45BE-B8F7-0E153916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1A54CAD-EEBA-4914-B2E2-8231E6B9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DEPOIS · papéis explícitos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9FFE57E-47BB-462B-AD48-A23F156E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agent/ · playbooks/ · skills/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knowledge/ · contracts/ · evals/ · evidence/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Cada artefato tem ativação e resultado esperados.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1F7BDE5-04A2-4282-A303-8AE2F6FA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O mesmo conteúdo pode conter artefatos diferentes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caos, regra, procedimento, explicação, script e critério de teste aparecem misturados. O modelo precisa inferir limites que deveriam estar explícitos.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organização não serve apenas para humanos: ela melhora seleção, atualização, auditoria e avaliação de recuperabilidade.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068C3-8B03-4429-99FC-56D5F679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98d982923447d"/>
          <a:stretch xmlns:a="http://schemas.openxmlformats.org/drawingml/2006/main"/>
        </p:blipFill>
        <p:spPr>
          <a:xfrm xmlns:a="http://schemas.openxmlformats.org/drawingml/2006/main">
            <a:off x="9906000" y="1745456"/>
            <a:ext cx="1666875" cy="13096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44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EAA684A-FE25-49AA-887B-BFAE7A6F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74E349D-152A-4D5B-992F-5C39F9B5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oficina mecânica torna a arquitetura concreta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94024A30-3D10-4B09-86B0-C4B4FA40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Manual da oficina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Conhecimento estável: medidas, materiais, tolerâncias e teoria do motor.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B4F8D401-0873-4B34-AA05-FAA87166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Procedimento e ferramenta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Playbook orienta o fluxo; skill executa uma capacidade delimitada e verificável.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4D0BC670-1B19-4ACD-8A7B-0A73A303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Ordem de serviço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Contrato da operação: entrada, saída, restrições e Definition of Done.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CC3C7-9191-4EE8-88D7-DE7FCFF0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0586355bb4c4f"/>
          <a:stretch xmlns:a="http://schemas.openxmlformats.org/drawingml/2006/main"/>
        </p:blipFill>
        <p:spPr>
          <a:xfrm xmlns:a="http://schemas.openxmlformats.org/drawingml/2006/main">
            <a:off x="9191625" y="1493044"/>
            <a:ext cx="2333625" cy="18335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91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E4377A1-E36C-4C2B-9D66-1CDFA81B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F328E2A-0810-4D0C-A171-EDEFA5BD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Refatorar contexto é uma jornada mensurável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A418C17-0688-4540-B391-0B5E1F24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9B03339-9806-40D4-90E5-0F3375B3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B684568-9B56-46A6-BC3F-B65EB959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9C6EDD9-E3F0-46D7-A313-F9761B45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1 · INVENTARIAR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82807ED-3242-4467-A37E-6DCA7AED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2 · SEPARAR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19E276F-34D4-4527-8E66-1C94E47F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3 · PROVAR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AE05526-4EB1-47AF-8605-284177EA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Definir ativação e fronteiras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Mover conteúdo para o artefato adequado sem duplicar a fonte de verdade.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EAB50B1-FFA5-4626-9141-975A64AB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Descobrir responsabilidades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Mapear instruções, regras, referências, scripts, contratos e testes.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7D0ED44-C243-4B84-B9CE-5782CBE8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Avaliar recuperação e execução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Executar evals, inspecionar evidências e ajustar a menor unidade necessária.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40A8A-674A-4EDE-8D89-FC3E37B6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630cf1b264aec"/>
          <a:stretch xmlns:a="http://schemas.openxmlformats.org/drawingml/2006/main"/>
        </p:blipFill>
        <p:spPr>
          <a:xfrm xmlns:a="http://schemas.openxmlformats.org/drawingml/2006/main">
            <a:off x="9858375" y="1326696"/>
            <a:ext cx="1714500" cy="13471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26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4DD08EF-19CE-4136-9914-0760B6C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8BA02DC-ACAF-44D7-841E-8EC1058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agente HOT deve ser pequeno e decisivo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E8C666A-8151-4D07-AF4F-1485FC3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 = o mínimo necessário para escolher o próximo passo com segurança.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F994E31-5C5A-4CF1-B87F-77B967A5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Objetivo e escopo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1F702EC-85DC-48F9-9AD5-21E1574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534CFB0F-3531-453B-BB83-676A24E1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agente aponta para playbooks e skills quando a tarefa exige aprofundamento.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Evite duplicar detalhes operacionais no conteúdo sempre carregado.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94CE1DE-FF24-49AC-B395-7F9048CD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Gatilhos de ativação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04A9968-B818-4D25-B547-8610C001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7943023E-E643-4C07-BD2B-9841714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Restrições críticas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44212F6D-2A4A-479E-9008-4EB6FA93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0AF768C8-EA9C-4715-A993-DB1603D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Roteamento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1B805066-D310-4E43-A455-A8901D4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F1DAC6B6-6FEC-4430-8D64-5560C5CF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Critério de parada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53494A3B-8432-44D0-A943-0D19E89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9E7B5-B4D9-488C-80DD-C4C8F6E5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e08cfa4d749a5"/>
          <a:stretch xmlns:a="http://schemas.openxmlformats.org/drawingml/2006/main"/>
        </p:blipFill>
        <p:spPr>
          <a:xfrm xmlns:a="http://schemas.openxmlformats.org/drawingml/2006/main">
            <a:off x="5334000" y="3229655"/>
            <a:ext cx="1428750" cy="1122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05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2A4CBAC-AE28-411B-8736-6D82AF4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98C7DF5-1AE4-48AE-8CEE-EB8C907F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Skill, playbook e knowledge resolvem problemas distintos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44A4A14-C4FF-431A-BE13-E460111F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Skill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Capacidade delimitada, acionável e testável. Pode incluir scripts, referências e assets.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54E2BB47-BBF1-49FA-BC87-8C79CE6D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Knowledge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Informação consultiva ou normativa usada para fundamentar decisões e explicar o domínio.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B74F2B23-9548-4BBD-AD4C-D5D91C05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Playbook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Sequência operacional para um objetivo recorrente, com decisões, checkpoints e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50F38-7360-4E90-A3DC-D5413E82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c74594da24541"/>
          <a:stretch xmlns:a="http://schemas.openxmlformats.org/drawingml/2006/main"/>
        </p:blipFill>
        <p:spPr>
          <a:xfrm xmlns:a="http://schemas.openxmlformats.org/drawingml/2006/main">
            <a:off x="1000125" y="2079171"/>
            <a:ext cx="1714500" cy="1347107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b6c9772ea439d"/>
          <a:stretch xmlns:a="http://schemas.openxmlformats.org/drawingml/2006/main"/>
        </p:blipFill>
        <p:spPr>
          <a:xfrm xmlns:a="http://schemas.openxmlformats.org/drawingml/2006/main">
            <a:off x="5000625" y="2079171"/>
            <a:ext cx="1714500" cy="1347107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dc819f9de438b"/>
          <a:stretch xmlns:a="http://schemas.openxmlformats.org/drawingml/2006/main"/>
        </p:blipFill>
        <p:spPr>
          <a:xfrm xmlns:a="http://schemas.openxmlformats.org/drawingml/2006/main">
            <a:off x="8858250" y="2079171"/>
            <a:ext cx="1714500" cy="13471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58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113AC37-10FA-4716-9F8A-2A392B91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87B823D-9C1C-476B-82AC-03E7C615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Uma fonte única em .cursor reduz fricção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9D767721-EF25-4D45-A564-557A27C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D6E7FE1-6B69-44E5-AD51-149E90BF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Cursor Native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2B8607AE-438B-45EA-BE47-5CDE79CD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playbooks/  skills/  knowledge/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rules/  contracts/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BBA71E6-E66A-490F-A4D0-BC6E57C7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07284B2-8564-41EE-BB13-C9A5FE0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Curadoria explícita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B3B3155-04E7-4BAC-A4FD-388A395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evals/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evidence/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README.md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DC167FF-AAF3-4E42-BEC8-4496BB1D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motor-context/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Comece com poucos diretórios, papéis claros e uma fonte de verdade por conceito.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Pastas adicionais são opcionais e só entram quando uma necessidade observável aparece.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C7449-178D-4171-BB16-5A0C3709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010e19d314384"/>
          <a:stretch xmlns:a="http://schemas.openxmlformats.org/drawingml/2006/main"/>
        </p:blipFill>
        <p:spPr>
          <a:xfrm xmlns:a="http://schemas.openxmlformats.org/drawingml/2006/main">
            <a:off x="10001250" y="1644083"/>
            <a:ext cx="1476375" cy="11600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2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EEA8E52-8733-4632-AD7D-7BBA336F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E02F9E-84B8-4221-BBAC-E4F8B3D8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nome da pasta não define quem a consome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48B34F6-8637-47D0-AE15-80B49D0A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references/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Documentação longa, tabelas e detalhes consultados sob demanda.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DE73503-72C8-4832-8BDF-D02252F3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scripts/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Automação determinística para tarefas repetíveis e verificáveis.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6B9FBC-FB7D-4048-AAC0-945BA66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assets/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Templates, schemas, exemplos-base e recursos reutilizáveis.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5C3A626-5D4F-4311-9E8C-DB689857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tests/ · examples/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Casos executáveis e demonstrações; não substituem evals de recuperação.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1002B-E5FF-4818-AAF0-CF3B8CF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b2566b4344acf"/>
          <a:stretch xmlns:a="http://schemas.openxmlformats.org/drawingml/2006/main"/>
        </p:blipFill>
        <p:spPr>
          <a:xfrm xmlns:a="http://schemas.openxmlformats.org/drawingml/2006/main">
            <a:off x="10048875" y="1686265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40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4984B75-2915-4427-B7A7-E86A1605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7E8BF56-A823-45DA-A51A-ECF72C4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HOT, WARM e COLD controlam custo de carregamento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B01F404-A593-48CA-98E7-CC805F95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9E6363C-AA04-4AB4-AD27-FB1FC15D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B5CEF2B-3956-4BDB-9D4D-FF4C5432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B7AAC7E9-1602-45F2-9712-52955799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8E09C6DC-DCF6-4A90-BE60-36C45AC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Decisão, segurança, roteamento e critérios de parada.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58688EA2-EECC-4BFD-BFFF-75243CE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E54B5354-677C-49B1-83A4-9DF2189F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WARM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Playbooks e conhecimento frequente ativados por sinais claros.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22AC20D9-3607-432A-A8F2-03424ED4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F2D5359D-E086-4E3F-B630-273074E3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Deep dives, histórico e material raro recuperado quando necessário.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A5BE020D-2ED3-4C9E-8B92-62B2BD9E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SOB DEMANDA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453D6029-43F3-45CC-AA8C-D83A85A7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SEMPRE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517F2BD6-9D62-47FA-9E9E-0ADCCB0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rPr>
              <a:t>REFERÊNCIA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7B11C-F273-4AE8-BACD-607A5318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83c540aab4e4e"/>
          <a:stretch xmlns:a="http://schemas.openxmlformats.org/drawingml/2006/main"/>
        </p:blipFill>
        <p:spPr>
          <a:xfrm xmlns:a="http://schemas.openxmlformats.org/drawingml/2006/main">
            <a:off x="10429875" y="931409"/>
            <a:ext cx="1047750" cy="8232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628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7B68458-1F1F-4D6C-999B-2F25C05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431A8BB-402B-4377-B6CE-7F702B70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HOT/WARM/COLD é só um eixo do modelo híbrido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5F6537B-0122-4BA8-B696-9FD574D6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Temperatura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Quando o conteúdo entra no contexto: HOT, WARM ou COLD.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9F9DEFC-5F54-45AF-A9F8-05CD469D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Profundidade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Quanto ler: NAVIGATION, LOOKUP ou DEEPDIVE.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80CF76F-9676-484F-8798-672856D5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Autoridade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Como interpretar: NORMATIVE, ADVISORY ou ILLUSTRATIVE.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F082C5B-74EE-4E82-9D6D-C4E02E72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Tipo de artefato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que o conteúdo faz: regra, contrato, playbook, skill ou knowledge.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42BF8-08D3-4E24-B609-6EF6D7D2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6b635abeb472c"/>
          <a:stretch xmlns:a="http://schemas.openxmlformats.org/drawingml/2006/main"/>
        </p:blipFill>
        <p:spPr>
          <a:xfrm xmlns:a="http://schemas.openxmlformats.org/drawingml/2006/main">
            <a:off x="9906000" y="4930888"/>
            <a:ext cx="1571625" cy="1234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83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2E16CB6-ED06-4C2B-9A24-60D7B936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409129F-63F3-4436-A2DF-0C076E3F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Economia de tokens depende da recuperação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81F88D8-A1BD-4925-9603-FB2D1F13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1F326D5-F0B3-4A14-A7D3-86CFD27B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rPr>
              <a:t>GANHO POSSÍVEL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F5DD99D-7BA8-44B7-BE62-8764BC7E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Menor contexto inicial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Mais foco no trecho relevante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Atualização localizada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5AEF09A-3563-4BEE-BB9A-572ED20E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99FF075-CF02-4A6D-AAA6-8530E624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RISCO REAL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61126A8-8D0A-4288-9844-73DF7B00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Overfetch e duplicação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Ativação incorreta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Mais chamadas sem ganho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3846919-C262-4833-8AAD-5B0B804E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A promessa precisa ser tratada como hipótese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Arquivos menores não garantem prompts menores. Um roteamento ruim pode carregar conteúdo demais, repetir fontes ou perder o trecho essencial.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Meça custo por tarefa concluída, não apenas tokens por chamada.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974F2-FC8F-4FC8-A8A5-A6A14C4B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66dbc3d8e4d0e"/>
          <a:stretch xmlns:a="http://schemas.openxmlformats.org/drawingml/2006/main"/>
        </p:blipFill>
        <p:spPr>
          <a:xfrm xmlns:a="http://schemas.openxmlformats.org/drawingml/2006/main">
            <a:off x="10239375" y="1728107"/>
            <a:ext cx="1238250" cy="9729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94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47A733-4E4C-4A8C-BE51-7269FC6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83109A1-9156-4281-9A35-B4D89A8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Corpus → execução → Eval → Evidence Record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EDDEC09-12A0-46BA-B89C-D91429ED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FA11895-CFA1-421D-8396-0E08E3D6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38C1817-4DDF-4E62-9844-F8A9953F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B54F486-267B-4BC5-BC18-8B63526D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EXTRAIR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FF93C73-09A0-4267-8554-583EE027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RECUPERAR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970415F-A4DB-48DD-9A98-217C32FA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JULGAR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30A8C8F-3669-49FF-8589-4A41CAFE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Trechos e caminhos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Cada consulta mostra o que foi encontrado, ranqueado e carregado.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023D1ED-4C20-4FE1-90EE-5078C649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Conceitos e termos-chave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suíte registra quais conceitos foram extraídos de quais arquivos.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DDD16D3-3468-4F45-BD0F-9B230089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Resposta, execução e evidência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Avaliação automática e leitura manual explicam por que passou ou falhou.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F919D-6D0A-48E0-B82F-4AB8619D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43764f0234173"/>
          <a:stretch xmlns:a="http://schemas.openxmlformats.org/drawingml/2006/main"/>
        </p:blipFill>
        <p:spPr>
          <a:xfrm xmlns:a="http://schemas.openxmlformats.org/drawingml/2006/main">
            <a:off x="10096500" y="1543390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41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2F7F5E0-7FF4-4AAC-BFD8-9D60C3A5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56CCF43-8BAC-4884-8578-ED9D726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suíte de eval precisa localizar a camada da falha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CC7CF6F-A964-4164-9242-AE11938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Cinco níveis evitam uma nota única que não explica o problema.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21501DA-8B6F-4C63-A640-42051F95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Descoberta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69C8284-9F19-4093-8A84-B538841D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743AF3EA-3F49-4016-ABE7-133BF0B4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DejaVu Sans Mono"/>
                <a:ea typeface="DejaVu Sans Mono"/>
                <a:cs typeface="DejaVu Sans Mono"/>
              </a:rPr>
              <a:t>Evidence Record: caso, consulta, termos, fontes recuperadas, decisão, artefatos e motivo da falha.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O registro deve permitir auditoria sem reexecutar o caso.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EF02D3E-1364-463B-A789-B12E93E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Recuperação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5EEB19F-D770-4060-89B9-51095C8C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ADCCE15-E97E-44CF-AEAD-D04516F7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Fundamentação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30284B77-737C-4E87-AE56-DF4D7937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FE4CCA0F-EA7A-4133-94B2-626C086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Execução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6620203F-6DB7-4A93-B6EF-D4D46F7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5A516557-4B84-4544-9043-AF81A7B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Evidência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5FCE8177-D5EE-4DC0-B33A-198EB086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37810-495F-43A7-98C1-B9FF259C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55c5bec184b2b"/>
          <a:stretch xmlns:a="http://schemas.openxmlformats.org/drawingml/2006/main"/>
        </p:blipFill>
        <p:spPr>
          <a:xfrm xmlns:a="http://schemas.openxmlformats.org/drawingml/2006/main">
            <a:off x="10287000" y="1437254"/>
            <a:ext cx="1190625" cy="9354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0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F87D609-8459-4D8B-A8F8-B5461B1B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982698C-62EE-44C3-BCEC-66E661E6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Confiabilidade melhora quando obrigação, limite e prova aparecem juntos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48F0BF3E-4255-4292-8D0B-36D3C562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1687B534-C9F6-4380-B11A-EB223A6C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3690016-D519-4924-9C45-9DB4DD9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NÃO FAÇA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Proíba atalhos perigosos e ambiguidade conhecida.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0A593B2-F2A4-4306-A064-3AB73C6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SE FALHAR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Pare, peça dado faltante e preserve evidência.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E1AF98E9-B01A-4133-B15C-9556D5C8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23F17FC-0F00-4EA9-BAB3-AF88E2E0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74C8D6A9-FB71-486C-909D-DF117042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E9C4BC7-47A4-4C00-8A16-705FDF9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rPr>
              <a:t>FAÇA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Declare ação e resultado verificável.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2B3CFAE6-7AB9-495C-86F2-330A643B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76D4FCF-5631-4293-B62C-5C53C63D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Um checklist final não corrige uma fonte ambígua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estrutura deve informar o que fazer, o que não fazer, quando interromper e qual evidência confirma a conclusão.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Negação isolada é fraca; combine-a com comportamento positivo e fallback.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296C8-3E76-4F8B-8C60-FC048F68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7863f65534b0e"/>
          <a:stretch xmlns:a="http://schemas.openxmlformats.org/drawingml/2006/main"/>
        </p:blipFill>
        <p:spPr>
          <a:xfrm xmlns:a="http://schemas.openxmlformats.org/drawingml/2006/main">
            <a:off x="10382250" y="2436699"/>
            <a:ext cx="1095375" cy="8606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575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1224D6B-9C85-42C3-95A4-085D16E4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619B16D-F21E-42F6-ABED-EA8DEF4D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SignalR notifica depois do commit; a API reconcilia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8A6BC37-AFE0-49F6-B5D1-65E94335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3D67E3C-0CE5-463F-9D70-E7A3EAA0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4CCADBD-94BE-4762-83AA-4817AE3D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2B3E7EE-D227-4CC4-BBA1-3D55C43F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ACEITAR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780098D-ECF4-46DE-B159-0B737FBF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PERSISTIR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7AD474D-46D2-4CFB-A22D-4605CD88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RECONCILIAR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1DDDAC4-CE53-4396-95A3-3A55E90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Job/worker processa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Executa com idempotência, checkpoints, timeout e trilha de auditoria.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D3FCAC5-1794-4E65-A352-AAC19A5D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API cria a operação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Valida contrato, gera correlationId e devolve estado inicial.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FA039F8-669B-4D68-B0E3-AE67EF5D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SignalR atualiza a tela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Publica estado persistido; o front reconcilia eventos e consulta a API em caso de perda.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C28D1-B276-4D99-B825-B7FCDD6A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e903b29264d24"/>
          <a:stretch xmlns:a="http://schemas.openxmlformats.org/drawingml/2006/main"/>
        </p:blipFill>
        <p:spPr>
          <a:xfrm xmlns:a="http://schemas.openxmlformats.org/drawingml/2006/main">
            <a:off x="10096500" y="1495765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78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8DF0586-48AD-4609-ADE9-8C74BDC5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C943772-DF98-489B-9390-673D25D7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Adoção: POC → piloto → padrão controlado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954E5B3-C889-4DD3-AB06-557BEB45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078E942-B022-46F4-A798-B1D10765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C6E0590-C925-4CCC-A84E-2E381D84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ECAA32FC-E561-462B-9C36-10967C7E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D230F319-6BBB-437D-A25D-230A1E24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domínio e 10–20 casos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Comparar baseline, estrutura nova e custo por tarefa concluída.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6C20BFC-B742-444A-BE9D-76DA3507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D982CA9F-3A71-4546-A527-3ED9BE1A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2–3 equipes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Medir recuperabilidade, retrabalho, latência e manutenção dos artefatos.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1721F92-7F6D-4D85-81B6-5428AF36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F6736C09-EB9B-47A1-99B1-49AFCE2A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Governança leve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Versionar contratos, evals e evidências; revisar exceções e remover duplicações.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638B30B1-87DC-4341-9028-8543A160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PILOTO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452519E2-084B-499A-A519-376D6463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POC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9D11993-19D5-4681-BE0E-0EB12684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PADRÃO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55DC3-81EE-412D-ACE2-E859B733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aee58c1aa4e7e"/>
          <a:stretch xmlns:a="http://schemas.openxmlformats.org/drawingml/2006/main"/>
        </p:blipFill>
        <p:spPr>
          <a:xfrm xmlns:a="http://schemas.openxmlformats.org/drawingml/2006/main">
            <a:off x="10334625" y="913039"/>
            <a:ext cx="1143000" cy="8980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443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97013A94-BE96-4ACC-AC3A-34A4C1AA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Abra o laboratório Cursor.
Meça antes de expandir.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A0F3365-376C-451A-A733-34748A78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domínio real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baseline comparável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trilha de evidências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4176C2-399A-4EF4-9CBF-F3DE345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C2F3"/>
                </a:solidFill>
                <a:latin typeface="Helvetica Neue"/>
                <a:ea typeface="Helvetica Neue"/>
                <a:cs typeface="Helvetica Neue"/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B6CD8-7096-40B9-ABC4-18302343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d86b4212b4c21"/>
          <a:stretch xmlns:a="http://schemas.openxmlformats.org/drawingml/2006/main"/>
        </p:blipFill>
        <p:spPr>
          <a:xfrm xmlns:a="http://schemas.openxmlformats.org/drawingml/2006/main">
            <a:off x="9048750" y="1071563"/>
            <a:ext cx="314325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58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2026-08-05T13:40:44.4780000Z</dcterms:created>
  <dcterms:modified xsi:type="dcterms:W3CDTF">2026-08-05T13:40:44.4780000Z</dcterms:modified>
</coreProperties>
</file>