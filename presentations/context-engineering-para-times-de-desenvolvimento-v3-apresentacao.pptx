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5ede83c77947c8" /><Relationship Type="http://schemas.openxmlformats.org/officeDocument/2006/relationships/extended-properties" Target="/docProps/app.xml" Id="R20fa7e22e8fb4238" /><Relationship Type="http://schemas.openxmlformats.org/officeDocument/2006/relationships/officeDocument" Target="/ppt/presentation.xml" Id="Re2ed3899514f4e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2de16d0c354e75"/>
  </p:sldMasterIdLst>
  <p:notesMasterIdLst>
    <p:notesMasterId xmlns:r="http://schemas.openxmlformats.org/officeDocument/2006/relationships" r:id="R3989488776664758"/>
  </p:notesMasterIdLst>
  <p:sldIdLst>
    <p:sldId xmlns:r="http://schemas.openxmlformats.org/officeDocument/2006/relationships" id="256" r:id="Rab7c1d9214274dce"/>
    <p:sldId xmlns:r="http://schemas.openxmlformats.org/officeDocument/2006/relationships" id="257" r:id="R4cf7980361864bee"/>
    <p:sldId xmlns:r="http://schemas.openxmlformats.org/officeDocument/2006/relationships" id="258" r:id="Rf08c0758c0fe4f8a"/>
    <p:sldId xmlns:r="http://schemas.openxmlformats.org/officeDocument/2006/relationships" id="259" r:id="R3bea6aac612f4fc7"/>
    <p:sldId xmlns:r="http://schemas.openxmlformats.org/officeDocument/2006/relationships" id="260" r:id="Rbb0bf66bc223455b"/>
    <p:sldId xmlns:r="http://schemas.openxmlformats.org/officeDocument/2006/relationships" id="261" r:id="R68301ee76c204cf2"/>
    <p:sldId xmlns:r="http://schemas.openxmlformats.org/officeDocument/2006/relationships" id="262" r:id="R09b43300c9d943b6"/>
    <p:sldId xmlns:r="http://schemas.openxmlformats.org/officeDocument/2006/relationships" id="263" r:id="R11065c3f108448c3"/>
    <p:sldId xmlns:r="http://schemas.openxmlformats.org/officeDocument/2006/relationships" id="264" r:id="R7a73470285094952"/>
    <p:sldId xmlns:r="http://schemas.openxmlformats.org/officeDocument/2006/relationships" id="265" r:id="R582c5851541e4434"/>
    <p:sldId xmlns:r="http://schemas.openxmlformats.org/officeDocument/2006/relationships" id="266" r:id="R6d6be9797fc34538"/>
    <p:sldId xmlns:r="http://schemas.openxmlformats.org/officeDocument/2006/relationships" id="267" r:id="Ra878d1bb707d4322"/>
    <p:sldId xmlns:r="http://schemas.openxmlformats.org/officeDocument/2006/relationships" id="268" r:id="R977b27cb8def4c17"/>
    <p:sldId xmlns:r="http://schemas.openxmlformats.org/officeDocument/2006/relationships" id="269" r:id="Rd0dbc1e90c0f46e9"/>
    <p:sldId xmlns:r="http://schemas.openxmlformats.org/officeDocument/2006/relationships" id="270" r:id="R59f97d4a361343dc"/>
    <p:sldId xmlns:r="http://schemas.openxmlformats.org/officeDocument/2006/relationships" id="271" r:id="R3d7d7124cdeb4f6b"/>
    <p:sldId xmlns:r="http://schemas.openxmlformats.org/officeDocument/2006/relationships" id="272" r:id="R92bd373e38c84b61"/>
    <p:sldId xmlns:r="http://schemas.openxmlformats.org/officeDocument/2006/relationships" id="273" r:id="Rda28bd3d8b84460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36f830cb784031" /><Relationship Type="http://schemas.openxmlformats.org/officeDocument/2006/relationships/slideMaster" Target="/ppt/slideMasters/slideMaster1.xml" Id="R7d2de16d0c354e75" /><Relationship Type="http://schemas.openxmlformats.org/officeDocument/2006/relationships/notesMaster" Target="/ppt/notesMasters/notesMaster1.xml" Id="R3989488776664758" /><Relationship Type="http://schemas.openxmlformats.org/officeDocument/2006/relationships/presProps" Target="/ppt/presProps.xml" Id="R0cc47b33a7714662" /><Relationship Type="http://schemas.openxmlformats.org/officeDocument/2006/relationships/tableStyles" Target="/ppt/tableStyles.xml" Id="Re3da2073b7124b7d" /><Relationship Type="http://schemas.openxmlformats.org/officeDocument/2006/relationships/slide" Target="/ppt/slides/slide1.xml" Id="Rab7c1d9214274dce" /><Relationship Type="http://schemas.openxmlformats.org/officeDocument/2006/relationships/slide" Target="/ppt/slides/slide2.xml" Id="R4cf7980361864bee" /><Relationship Type="http://schemas.openxmlformats.org/officeDocument/2006/relationships/slide" Target="/ppt/slides/slide3.xml" Id="Rf08c0758c0fe4f8a" /><Relationship Type="http://schemas.openxmlformats.org/officeDocument/2006/relationships/slide" Target="/ppt/slides/slide4.xml" Id="R3bea6aac612f4fc7" /><Relationship Type="http://schemas.openxmlformats.org/officeDocument/2006/relationships/slide" Target="/ppt/slides/slide5.xml" Id="Rbb0bf66bc223455b" /><Relationship Type="http://schemas.openxmlformats.org/officeDocument/2006/relationships/slide" Target="/ppt/slides/slide6.xml" Id="R68301ee76c204cf2" /><Relationship Type="http://schemas.openxmlformats.org/officeDocument/2006/relationships/slide" Target="/ppt/slides/slide7.xml" Id="R09b43300c9d943b6" /><Relationship Type="http://schemas.openxmlformats.org/officeDocument/2006/relationships/slide" Target="/ppt/slides/slide8.xml" Id="R11065c3f108448c3" /><Relationship Type="http://schemas.openxmlformats.org/officeDocument/2006/relationships/slide" Target="/ppt/slides/slide9.xml" Id="R7a73470285094952" /><Relationship Type="http://schemas.openxmlformats.org/officeDocument/2006/relationships/slide" Target="/ppt/slides/slide10.xml" Id="R582c5851541e4434" /><Relationship Type="http://schemas.openxmlformats.org/officeDocument/2006/relationships/slide" Target="/ppt/slides/slide11.xml" Id="R6d6be9797fc34538" /><Relationship Type="http://schemas.openxmlformats.org/officeDocument/2006/relationships/slide" Target="/ppt/slides/slide12.xml" Id="Ra878d1bb707d4322" /><Relationship Type="http://schemas.openxmlformats.org/officeDocument/2006/relationships/slide" Target="/ppt/slides/slide13.xml" Id="R977b27cb8def4c17" /><Relationship Type="http://schemas.openxmlformats.org/officeDocument/2006/relationships/slide" Target="/ppt/slides/slide14.xml" Id="Rd0dbc1e90c0f46e9" /><Relationship Type="http://schemas.openxmlformats.org/officeDocument/2006/relationships/slide" Target="/ppt/slides/slide15.xml" Id="R59f97d4a361343dc" /><Relationship Type="http://schemas.openxmlformats.org/officeDocument/2006/relationships/slide" Target="/ppt/slides/slide16.xml" Id="R3d7d7124cdeb4f6b" /><Relationship Type="http://schemas.openxmlformats.org/officeDocument/2006/relationships/slide" Target="/ppt/slides/slide17.xml" Id="R92bd373e38c84b61" /><Relationship Type="http://schemas.openxmlformats.org/officeDocument/2006/relationships/slide" Target="/ppt/slides/slide18.xml" Id="Rda28bd3d8b8446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4c4dbbbe6740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c2ac1f5b2f439b" /><Relationship Type="http://schemas.openxmlformats.org/officeDocument/2006/relationships/notesMaster" Target="/ppt/notesMasters/notesMaster1.xml" Id="R93b3654f7bc646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bbb8724bcd48c9" /><Relationship Type="http://schemas.openxmlformats.org/officeDocument/2006/relationships/notesMaster" Target="/ppt/notesMasters/notesMaster1.xml" Id="Rd987e073346f4d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410d259bfd4740" /><Relationship Type="http://schemas.openxmlformats.org/officeDocument/2006/relationships/notesMaster" Target="/ppt/notesMasters/notesMaster1.xml" Id="Rfbd8aa2438964f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7184ebcc004e70" /><Relationship Type="http://schemas.openxmlformats.org/officeDocument/2006/relationships/notesMaster" Target="/ppt/notesMasters/notesMaster1.xml" Id="R41f69228895443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f89f005d35442f" /><Relationship Type="http://schemas.openxmlformats.org/officeDocument/2006/relationships/notesMaster" Target="/ppt/notesMasters/notesMaster1.xml" Id="Rec1aa192ef3c45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fc61d9766541d7" /><Relationship Type="http://schemas.openxmlformats.org/officeDocument/2006/relationships/notesMaster" Target="/ppt/notesMasters/notesMaster1.xml" Id="R89f66eaab9c84b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dcf27c600e45c8" /><Relationship Type="http://schemas.openxmlformats.org/officeDocument/2006/relationships/notesMaster" Target="/ppt/notesMasters/notesMaster1.xml" Id="R811e9bb0a36c42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6bce820d2c48c5" /><Relationship Type="http://schemas.openxmlformats.org/officeDocument/2006/relationships/notesMaster" Target="/ppt/notesMasters/notesMaster1.xml" Id="R0560db0877d34d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e0ec007a0e482f" /><Relationship Type="http://schemas.openxmlformats.org/officeDocument/2006/relationships/notesMaster" Target="/ppt/notesMasters/notesMaster1.xml" Id="R7ed869171c3d44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751de8578a4b65" /><Relationship Type="http://schemas.openxmlformats.org/officeDocument/2006/relationships/notesMaster" Target="/ppt/notesMasters/notesMaster1.xml" Id="R1bee407461f044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5fa6c6ffef4e9b" /><Relationship Type="http://schemas.openxmlformats.org/officeDocument/2006/relationships/notesMaster" Target="/ppt/notesMasters/notesMaster1.xml" Id="R3907a607547c40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2a60966e9b4f89" /><Relationship Type="http://schemas.openxmlformats.org/officeDocument/2006/relationships/notesMaster" Target="/ppt/notesMasters/notesMaster1.xml" Id="Rbccc2d056b694fb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1803dba7b044cc7" /><Relationship Type="http://schemas.openxmlformats.org/officeDocument/2006/relationships/notesMaster" Target="/ppt/notesMasters/notesMaster1.xml" Id="R61ff3e3a61934d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c07cf52f6b4009" /><Relationship Type="http://schemas.openxmlformats.org/officeDocument/2006/relationships/notesMaster" Target="/ppt/notesMasters/notesMaster1.xml" Id="Rd9f0142f419f41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4b14d1833343dd" /><Relationship Type="http://schemas.openxmlformats.org/officeDocument/2006/relationships/notesMaster" Target="/ppt/notesMasters/notesMaster1.xml" Id="R68d450d1bc42441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c4cd732f0bf43bb" /><Relationship Type="http://schemas.openxmlformats.org/officeDocument/2006/relationships/notesMaster" Target="/ppt/notesMasters/notesMaster1.xml" Id="R4ab2068d0a414a3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fcec2153db445f4" /><Relationship Type="http://schemas.openxmlformats.org/officeDocument/2006/relationships/notesMaster" Target="/ppt/notesMasters/notesMaster1.xml" Id="R505efb8ce4c54f7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27958229cf04b89" /><Relationship Type="http://schemas.openxmlformats.org/officeDocument/2006/relationships/notesMaster" Target="/ppt/notesMasters/notesMaster1.xml" Id="R99c9c2f0b3c748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objetivo: transformar conteúdo disperso em contexto recuperável, verificável e adequado a cada tarefa. A apresentação oferece o mapa; o e-book contém exemplos, contratos, templates, glossário e referências.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Ilustração original gerada por IA para este material, 2026-08-02.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um repositório cheio de orientações não garante uma execução correta. A pergunta prática é: a informação certa chega no momento certo, em formato acionável e com evidência?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Anthropic, Context Engineering for AI Agents: https://www.anthropic.com/engineering/effective-context-engineering-for-ai-agents</a:t>
            </a:r>
          </a:p>
          <a:p xmlns:a="http://schemas.openxmlformats.org/drawingml/2006/main">
            <a:r>
              <a:t>- Liu et al., Lost in the Middle: https://arxiv.org/abs/2307.03172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Comece somente pela oficina. O problema não é falta de conhecimento: é não reconhecer função, autoridade e aplicabilidade durante um serviço urgente. O e-book traz um trecho caótico completo para o exercício.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Síntese original do e-book complementar.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Ainda não apresente nomes técnicos. Mostre que coordenação, capacidade, conhecimento, verificação e registro resolvem problemas diferentes dentro da própria oficina.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Síntese original do e-book complementar.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Percorra o serviço completo. A condição de parada não é fracasso; é a decisão correta quando falta identificação, fonte, instrumento ou evidência.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Síntese original do e-book complementar.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Faça a transição uma única vez. Explique que a analogia destaca coordenação, capacidade, conhecimento, verificação e evidência; ela não afirma que uma oficina é um sistema de software.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Gentner, Loewenstein e Thompson, Learning and Transfer: https://groups.psych.northwestern.edu/gentner/papers/GentnerLoewensteinThompson03.pdf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Reforce que nem tudo que pode ser segregado vira skill. A estrutura de pastas inspirada em Agent Skills também pode organizar outros artefatos, desde que o tipo e a semântica permaneçam explícitos.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 Skills overview: https://agentskills.io/home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transforme a árvore em checklist obrigatório. Ela é uma gramática organizacional. O e-book explica o conteúdo esperado de cada pasta e apresenta templates curtos.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Síntese original do e-book complementar.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 distinção: id é identidade técnica estável; name é nome legível. Em Agent Skills, name possui contrato próprio e deve coincidir com o diretório. A anatomia ampliada do SKILL.md é opcional e deve ser testada no cliente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 Skills specification: https://agentskills.io/specification</a:t>
            </a:r>
          </a:p>
          <a:p xmlns:a="http://schemas.openxmlformats.org/drawingml/2006/main">
            <a:r>
              <a:t>- Agent Skills client implementation: https://agentskills.io/client-implementation/adding-skills-support</a:t>
            </a:r>
          </a:p>
          <a:p xmlns:a="http://schemas.openxmlformats.org/drawingml/2006/main">
            <a:r>
              <a:t>- E-book Context Engineering para Times de Desenvolvimento, edição V3.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temperatura somente depois da ponte. Ela descreve uma política por consumidor e tarefa; não representa importância nem garante cache, latência ou economia.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 Skills specification, Progressive disclosure: https://agentskills.io/specification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 modelo híbrido para evitar que uma única classificação tente responder perguntas diferentes. Nesta apresentação, aprofundamos apenas temperatura; os outros eixos ficam como extensão opcional no e-book.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Síntese original do e-book complementar.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Evite prometer economia automática. A métrica mais honesta combina custo, sucesso, latência e retrabalho. Um contexto mais curto só é melhor se ainda contiver o necessário para concluir a tarefa.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Anthropic, Context Engineering for AI Agents: https://www.anthropic.com/engineering/effective-context-engineering-for-ai-agents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o exercício prático do E-book: preparar uma massa mínima, executar o prompt de auditoria, validar o JSON e corrigir a camada indicada. O Evidence Record registra fatos externos; não exige raciocínio interno do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E-book Context Engineering para Times de Desenvolvimento, edição V3.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os seis níveis do e-book: lexical, semântico, contextual, negativo, aplicação e ponta a ponta. Evidência registra as fontes, decisões, testes e resultados que permitem diagnosticar a falha.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Síntese original do e-book complementar.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Evite vender estas técnicas como cura de alucinação. Elas reduzem classes específicas de erro e tornam falhas observáveis. A qualidade final também depende do modelo, das ferramentas, dos dados e das avaliações.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LLMBar, benchmark de instruction-following: https://arxiv.org/abs/2310.07641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Traduza a arquitetura de contexto para uma operação real. A notificação não é a fonte de verdade: o estado persistido é. SignalR reduz latência percebida; a API permite reconciliação e auditoria.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Learn, ASP.NET Core SignalR: https://learn.microsoft.com/aspnet/core/signalr/introduction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a proposta com um experimento controlado. Um padrão só deve ser expandido depois de demonstrar que melhora qualidade, recuperabilidade ou custo total sem criar manutenção desproporcional.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Síntese original do e-book complementar.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Convide o time a escolher um caso real, preservar o baseline e executar a primeira rodada de avaliação. Direcione dúvidas técnicas, templates e referências para o e-book complementar.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Síntese original do e-book complementar.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8469e7ecab40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8f5f4c4edb4e60" /><Relationship Type="http://schemas.openxmlformats.org/officeDocument/2006/relationships/slideLayout" Target="/ppt/slideLayouts/slideLayout1.xml" Id="R41beb748414c4a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beb748414c4a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c9eb464cb49a3" /><Relationship Type="http://schemas.openxmlformats.org/officeDocument/2006/relationships/image" Target="/ppt/media/image.png" Id="R1183326c10c24669" /><Relationship Type="http://schemas.openxmlformats.org/officeDocument/2006/relationships/notesSlide" Target="/ppt/notesSlides/notesSlide1.xml" Id="R13e308d9352d43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3794ba03c4863" /><Relationship Type="http://schemas.openxmlformats.org/officeDocument/2006/relationships/image" Target="/ppt/media/image2.png" Id="R87d3167311ea4a64" /><Relationship Type="http://schemas.openxmlformats.org/officeDocument/2006/relationships/notesSlide" Target="/ppt/notesSlides/notesSlide2.xml" Id="Ra27b906aa3dc44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ebc09bea84a06" /><Relationship Type="http://schemas.openxmlformats.org/officeDocument/2006/relationships/image" Target="/ppt/media/image3.png" Id="R79a2f0b4c32745b1" /><Relationship Type="http://schemas.openxmlformats.org/officeDocument/2006/relationships/notesSlide" Target="/ppt/notesSlides/notesSlide3.xml" Id="R2d70b8026e0845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f51a44d134c48" /><Relationship Type="http://schemas.openxmlformats.org/officeDocument/2006/relationships/image" Target="/ppt/media/image4.png" Id="R5f3805a3ffb848ff" /><Relationship Type="http://schemas.openxmlformats.org/officeDocument/2006/relationships/notesSlide" Target="/ppt/notesSlides/notesSlide4.xml" Id="R5212248dbe8843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d2047af6f4f2b" /><Relationship Type="http://schemas.openxmlformats.org/officeDocument/2006/relationships/image" Target="/ppt/media/image5.png" Id="Rd92a25039a874da6" /><Relationship Type="http://schemas.openxmlformats.org/officeDocument/2006/relationships/notesSlide" Target="/ppt/notesSlides/notesSlide5.xml" Id="R9dcd8c1fcf594b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225d60be84932" /><Relationship Type="http://schemas.openxmlformats.org/officeDocument/2006/relationships/image" Target="/ppt/media/image6.png" Id="R6148fd72c3a745e0" /><Relationship Type="http://schemas.openxmlformats.org/officeDocument/2006/relationships/notesSlide" Target="/ppt/notesSlides/notesSlide6.xml" Id="R693ff6f527ba4b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9d20713224b06" /><Relationship Type="http://schemas.openxmlformats.org/officeDocument/2006/relationships/image" Target="/ppt/media/image7.png" Id="Rf65364b64e4741db" /><Relationship Type="http://schemas.openxmlformats.org/officeDocument/2006/relationships/image" Target="/ppt/media/image8.png" Id="R646c7e11af0f476e" /><Relationship Type="http://schemas.openxmlformats.org/officeDocument/2006/relationships/image" Target="/ppt/media/image9.png" Id="R7552917f48b1467c" /><Relationship Type="http://schemas.openxmlformats.org/officeDocument/2006/relationships/notesSlide" Target="/ppt/notesSlides/notesSlide7.xml" Id="R4b52a88917ac4c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d5b5531ba4dda" /><Relationship Type="http://schemas.openxmlformats.org/officeDocument/2006/relationships/image" Target="/ppt/media/image10.png" Id="Rc734d32d283b46ec" /><Relationship Type="http://schemas.openxmlformats.org/officeDocument/2006/relationships/notesSlide" Target="/ppt/notesSlides/notesSlide8.xml" Id="R9462c40e3c1944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86f2d34134a65" /><Relationship Type="http://schemas.openxmlformats.org/officeDocument/2006/relationships/image" Target="/ppt/media/image11.png" Id="Rb239fd04c90e45cd" /><Relationship Type="http://schemas.openxmlformats.org/officeDocument/2006/relationships/notesSlide" Target="/ppt/notesSlides/notesSlide9.xml" Id="R88be841222bb46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0e0ee359946cb" /><Relationship Type="http://schemas.openxmlformats.org/officeDocument/2006/relationships/image" Target="/ppt/media/image12.png" Id="Re0858a0dc3c14744" /><Relationship Type="http://schemas.openxmlformats.org/officeDocument/2006/relationships/notesSlide" Target="/ppt/notesSlides/notesSlide10.xml" Id="R40891b9f787045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dd47d59ba4caf" /><Relationship Type="http://schemas.openxmlformats.org/officeDocument/2006/relationships/image" Target="/ppt/media/image13.png" Id="R7344b2260a204de8" /><Relationship Type="http://schemas.openxmlformats.org/officeDocument/2006/relationships/notesSlide" Target="/ppt/notesSlides/notesSlide11.xml" Id="R7458c27c23184e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9c125089c4f9b" /><Relationship Type="http://schemas.openxmlformats.org/officeDocument/2006/relationships/image" Target="/ppt/media/image14.png" Id="Rc56b988b3c28469f" /><Relationship Type="http://schemas.openxmlformats.org/officeDocument/2006/relationships/notesSlide" Target="/ppt/notesSlides/notesSlide12.xml" Id="R5b4122b6281347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a0311c4094baf" /><Relationship Type="http://schemas.openxmlformats.org/officeDocument/2006/relationships/image" Target="/ppt/media/image15.png" Id="R5bd71577b2db4832" /><Relationship Type="http://schemas.openxmlformats.org/officeDocument/2006/relationships/notesSlide" Target="/ppt/notesSlides/notesSlide13.xml" Id="R85219acf263b4da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f020a75364720" /><Relationship Type="http://schemas.openxmlformats.org/officeDocument/2006/relationships/image" Target="/ppt/media/image16.png" Id="Rbf6e660149e6428b" /><Relationship Type="http://schemas.openxmlformats.org/officeDocument/2006/relationships/notesSlide" Target="/ppt/notesSlides/notesSlide14.xml" Id="R8d9afe24a7a0441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faff58ce44724" /><Relationship Type="http://schemas.openxmlformats.org/officeDocument/2006/relationships/image" Target="/ppt/media/image17.png" Id="Ree9d84b3a27c4e8e" /><Relationship Type="http://schemas.openxmlformats.org/officeDocument/2006/relationships/notesSlide" Target="/ppt/notesSlides/notesSlide15.xml" Id="Rdfa272c80692480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039d45199463e" /><Relationship Type="http://schemas.openxmlformats.org/officeDocument/2006/relationships/image" Target="/ppt/media/image18.png" Id="R732a3d9dbe8f4155" /><Relationship Type="http://schemas.openxmlformats.org/officeDocument/2006/relationships/notesSlide" Target="/ppt/notesSlides/notesSlide16.xml" Id="R69f40bd493a54c3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4d4bb63b84b9c" /><Relationship Type="http://schemas.openxmlformats.org/officeDocument/2006/relationships/image" Target="/ppt/media/image19.png" Id="Ra144f353b01b434e" /><Relationship Type="http://schemas.openxmlformats.org/officeDocument/2006/relationships/notesSlide" Target="/ppt/notesSlides/notesSlide17.xml" Id="Rb2c28ab92b48445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59a43cda146f9" /><Relationship Type="http://schemas.openxmlformats.org/officeDocument/2006/relationships/image" Target="/ppt/media/image20.png" Id="Rf3c2e16389df4f4b" /><Relationship Type="http://schemas.openxmlformats.org/officeDocument/2006/relationships/notesSlide" Target="/ppt/notesSlides/notesSlide18.xml" Id="Rcd36dc369d6f42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0DF30EA-0767-4723-A2B0-EDC0165C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8EE8A37-DDE9-49EA-9E33-A980FC97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7C2F3"/>
                </a:solidFill>
                <a:latin typeface="Helvetica Neue"/>
                <a:ea typeface="Helvetica Neue"/>
                <a:cs typeface="Helvetica Neue"/>
              </a:rPr>
              <a:t>EDIÇÃO V3</a:t>
            </a:r>
            <a:r>
              <a:rPr sz="1350" b="1">
                <a:solidFill>
                  <a:srgbClr val="27C2F3"/>
                </a:solidFill>
                <a:latin typeface="Helvetica Neue"/>
                <a:ea typeface="Helvetica Neue"/>
                <a:cs typeface="Helvetica Neue"/>
              </a:rPr>
              <a:t> · GUIA DE EQUIPE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D2DD2646-D0AB-40C2-B3E9-9C5A3063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01F916C3-B96B-482C-A99E-7E0D5557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Organize o contexto.
Preserve a atenção.
Prove a execução.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9E7FF"/>
                </a:solidFill>
                <a:latin typeface="Helvetica Neue"/>
                <a:ea typeface="Helvetica Neue"/>
                <a:cs typeface="Helvetica Neue"/>
              </a:rPr>
              <a:t>Da oficina ao harness: curadoria prática, interoperável e auditável.</a:t>
            </a:r>
            <a:br/>
            <a:r>
              <a:rPr sz="1650" b="0">
                <a:solidFill>
                  <a:srgbClr val="D9E7FF"/>
                </a:solidFill>
                <a:latin typeface="Helvetica Neue"/>
                <a:ea typeface="Helvetica Neue"/>
                <a:cs typeface="Helvetica Neue"/>
              </a:rPr>
              <a:t>E-book complementar com 62 páginas.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AD9F2-0637-4D88-A38C-9727597D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83326c10c24669"/>
          <a:srcRect xmlns:a="http://schemas.openxmlformats.org/drawingml/2006/main" l="0" t="16292" r="0" b="162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/>
          </a:prstGeom>
        </p:spPr>
      </p:pic>
      <p:sp>
        <p:nvSpPr>
          <p:cNvPr id="8" name="context-tree">
            <a:extLst xmlns:a="http://schemas.openxmlformats.org/drawingml/2006/main">
              <a:ext uri="{FF2B5EF4-FFF2-40B4-BE49-F238E27FC236}">
                <a16:creationId xmlns:a16="http://schemas.microsoft.com/office/drawing/2014/main" id="{CBD485D7-6C98-4EC2-ACD6-7D2AB7AE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05375"/>
            <a:ext cx="5143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FDD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9FDDFC"/>
                </a:solidFill>
                <a:latin typeface="DejaVu Sans Mono"/>
                <a:ea typeface="DejaVu Sans Mono"/>
                <a:cs typeface="DejaVu Sans Mono"/>
              </a:rPr>
              <a:t>ai-context/</a:t>
            </a:r>
          </a:p>
          <a:p xmlns:a="http://schemas.openxmlformats.org/drawingml/2006/main">
            <a:pPr>
              <a:buNone/>
              <a:defRPr sz="1200" b="0">
                <a:solidFill>
                  <a:srgbClr val="9FDD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9FDDFC"/>
                </a:solidFill>
                <a:latin typeface="DejaVu Sans Mono"/>
                <a:ea typeface="DejaVu Sans Mono"/>
                <a:cs typeface="DejaVu Sans Mono"/>
              </a:rPr>
              <a:t>├── agent/     ├── playbooks/     ├── skills/</a:t>
            </a:r>
          </a:p>
          <a:p xmlns:a="http://schemas.openxmlformats.org/drawingml/2006/main">
            <a:pPr>
              <a:buNone/>
              <a:defRPr sz="1200" b="0">
                <a:solidFill>
                  <a:srgbClr val="9FDD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9FDDFC"/>
                </a:solidFill>
                <a:latin typeface="DejaVu Sans Mono"/>
                <a:ea typeface="DejaVu Sans Mono"/>
                <a:cs typeface="DejaVu Sans Mono"/>
              </a:rPr>
              <a:t>├── knowledge/ ├── rules/         ├── contracts/</a:t>
            </a:r>
          </a:p>
          <a:p xmlns:a="http://schemas.openxmlformats.org/drawingml/2006/main">
            <a:pPr>
              <a:buNone/>
              <a:defRPr sz="1200" b="0">
                <a:solidFill>
                  <a:srgbClr val="9FDD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9FDDFC"/>
                </a:solidFill>
                <a:latin typeface="DejaVu Sans Mono"/>
                <a:ea typeface="DejaVu Sans Mono"/>
                <a:cs typeface="DejaVu Sans Mono"/>
              </a:rPr>
              <a:t>└── evals/     └── evidence/</a:t>
            </a:r>
          </a:p>
        </p:txBody>
      </p:sp>
      <p:sp>
        <p:nvSpPr>
          <p:cNvPr id="9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6BCBE0C3-7E2D-4CED-9E1A-046812CA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Hernandes Junio de Assis · autor</a:t>
            </a:r>
          </a:p>
        </p:txBody>
      </p:sp>
    </p:spTree>
    <p:extLst>
      <p:ext uri="{BB962C8B-B14F-4D97-AF65-F5344CB8AC3E}">
        <p14:creationId xmlns:p14="http://schemas.microsoft.com/office/powerpoint/2010/main" val="2876836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EBB4ABEF-8AF4-4478-9059-2E1AD41A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 problema não é falta de conteúdo.
É falta de contexto organizado.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8B8C167-D338-4748-B58A-8DC6D06E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Mais instruções podem aumentar ambiguidade, competição por atenção e dificuldade de recuperação.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3BC7FC00-9370-4149-91B9-1B7C7EA5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O PONTO DE PARTIDA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89C17-51C4-45E4-AEAC-C3D6D2D5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3167311ea4a64"/>
          <a:stretch xmlns:a="http://schemas.openxmlformats.org/drawingml/2006/main"/>
        </p:blipFill>
        <p:spPr>
          <a:xfrm xmlns:a="http://schemas.openxmlformats.org/drawingml/2006/main">
            <a:off x="9572625" y="2951389"/>
            <a:ext cx="1809750" cy="14219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421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AC6A808-3280-41EA-9C00-0FF41FA5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D43F099-1C36-49B6-A34D-C9BECA04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 manual completo que ninguém consegue usar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21AB4375-55E7-431B-8FC6-EABE9F71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7ED83AE-F322-44BD-ACD6-B95496F0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PARECE COMPLETO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892124F8-0F1B-46C9-B6A1-D2F59580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Regras, dicas e relatos antigos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Procedimentos de vários motores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Tudo disponível, sem hierarquia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F5DAA4FE-A77E-43C7-A547-B034A974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2ED66762-D561-4FD0-96EE-5EBF8427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FALHA NA PRESSA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0F494E-B9E9-433E-91DD-49A4E296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fonte correta demora a aparecer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Uma dica parece uma obrigação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O laudo não prova a decisão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DC3A0DB5-91A2-450C-BC5F-BBE6B055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Tudo está no mesmo lugar — e esse é o problema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Papel, segurança, procedimento, explicação, história e teste aparecem lado a lado com o mesmo peso visual.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O mecânico precisa descobrir sozinho o que é obrigatório, o que se aplica e quando deve parar.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4059B-AB1A-4EAF-890C-7E820658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2f0b4c32745b1"/>
          <a:stretch xmlns:a="http://schemas.openxmlformats.org/drawingml/2006/main"/>
        </p:blipFill>
        <p:spPr>
          <a:xfrm xmlns:a="http://schemas.openxmlformats.org/drawingml/2006/main">
            <a:off x="9906000" y="1745456"/>
            <a:ext cx="1666875" cy="13096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1413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2119E95-5B0D-42F1-9790-E335B660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FC87D4E-EEE0-4DEE-8228-ECE423B8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oficina separa cinco responsabilidades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225E8249-3D76-4432-BA23-08832C85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Cartão + ordem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O cartão preserva decisões permanentes; a ordem coordena um objetivo específico.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26E9C1AD-DFAA-4AE9-A4B8-A0BDA7C2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Teste + laudo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O teste verifica o resultado; o laudo permite reconstruir fontes, medições e conclusão.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A187F386-648B-4E12-B684-7ED74F4B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Capacidade + manual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capacidade executa uma atividade delimitada; o manual fundamenta a decisão.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F48FE-ECCB-42F5-8B8D-429FC7EB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805a3ffb848ff"/>
          <a:stretch xmlns:a="http://schemas.openxmlformats.org/drawingml/2006/main"/>
        </p:blipFill>
        <p:spPr>
          <a:xfrm xmlns:a="http://schemas.openxmlformats.org/drawingml/2006/main">
            <a:off x="9191625" y="1493044"/>
            <a:ext cx="2333625" cy="18335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3672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F0126376-174F-4501-A7B2-A36BFFB4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95ADF76-D10D-466B-AB85-7F1471D9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 mesmo serviço agora possui decisões verificáveis</a:t>
            </a:r>
          </a:p>
        </p:txBody>
      </p:sp>
      <p:cxnSp>
        <p:nvCxnSpPr>
          <p:cNvPr id="33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FBD1389-BD83-4427-B312-D5F396C3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DBF5EBF5-A3D9-4E7E-A94D-691E580D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0AD6D62D-45F8-4404-8C94-0FA7778C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98A1A09C-303C-487C-90AA-35C2BEA5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1 · IDENTIFICAR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9D14B8-886E-462C-AD31-5473BFE9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2 · EXECUTAR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8DD761E9-866B-4B39-91FF-CA536C7D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3 · COMPROVAR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CC4E3D4-C51C-426B-B14F-4ABB01D3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Manual e especialistas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Cada capacidade devolve resultado; a ordem mantém a coordenação.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C88818F2-EBE5-4619-9EB1-448EF5FF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Motor, sintoma e ordem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oficina confirma a aplicação antes de selecionar o procedimento.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562EAE5-5604-42BD-8DC9-DED01ADA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Teste e laudo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Ligar o motor não basta: critérios e medições sustentam a liberação.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817E9-4330-404B-B285-90948AD8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a25039a874da6"/>
          <a:stretch xmlns:a="http://schemas.openxmlformats.org/drawingml/2006/main"/>
        </p:blipFill>
        <p:spPr>
          <a:xfrm xmlns:a="http://schemas.openxmlformats.org/drawingml/2006/main">
            <a:off x="9858375" y="1326696"/>
            <a:ext cx="1714500" cy="13471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3051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DF7894B-6456-4E2C-BBCD-3D7D63B8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9608596-C447-404A-A48C-DDC39714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Uma única ponte conecta oficina e software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57B03F8A-F1DD-46CC-8FE2-873E7E51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metáfora construiu o mapa; agora cada função recebe um nome técnico.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33CD9AE-F8CA-4480-B758-9102CF72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Cartão → Agent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1D0191E5-D44D-4AC9-BF7E-D8604F72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EBA14026-980D-4613-B4F7-FB871C4D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correspondência ajuda a reconhecer responsabilidade, não identidade entre os domínios.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Daqui em diante, o cenário permanece técnico até o fechamento.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AA934A44-5376-43B1-89E9-02976C1C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Ordem → Playbook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529A35B5-5204-42E2-AD8B-716EF99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BDD4F583-442D-4AD4-86A4-8D436C0F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Capacidade → Skill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8C8EB5DD-8B5F-4BB3-9AD0-078928FA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52128A42-CC6C-443C-B70C-AE140A3A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Manual → Knowledge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47B4D5E5-52E8-42A8-A590-E733A318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DC51D723-6DC7-49C6-B9AA-3A9D413D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Teste/laudo → Eval/Evidence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06EFE94A-2ED1-4DE1-8222-34F16343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ADC0FE-DD33-4064-8B26-6A102A1F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8fd72c3a745e0"/>
          <a:stretch xmlns:a="http://schemas.openxmlformats.org/drawingml/2006/main"/>
        </p:blipFill>
        <p:spPr>
          <a:xfrm xmlns:a="http://schemas.openxmlformats.org/drawingml/2006/main">
            <a:off x="5334000" y="3229655"/>
            <a:ext cx="1428750" cy="11225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32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EE2EB95-0049-428C-B8A6-40C202C6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E597B7E-E81F-4625-8C04-13F45FF5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Skill, playbook e knowledge resolvem problemas distintos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5C3FB670-72C9-49E8-844E-FF150715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Skill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Capacidade delimitada, acionável e testável. Pode incluir scripts, referências e assets.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A904BF6B-D3ED-473D-9E9A-980301E5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Knowledge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Informação consultiva usada para explicar o domínio e fundamentar decisões.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CC82474F-F915-4D44-A184-D2CCCF4E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Playbook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Sequência operacional para um objetivo recorrente, com decisões, checkpoints e fallback.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DFECD-DF75-4536-9D9A-35015B5C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364b64e4741db"/>
          <a:stretch xmlns:a="http://schemas.openxmlformats.org/drawingml/2006/main"/>
        </p:blipFill>
        <p:spPr>
          <a:xfrm xmlns:a="http://schemas.openxmlformats.org/drawingml/2006/main">
            <a:off x="1000125" y="2079171"/>
            <a:ext cx="1714500" cy="1347107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c7e11af0f476e"/>
          <a:stretch xmlns:a="http://schemas.openxmlformats.org/drawingml/2006/main"/>
        </p:blipFill>
        <p:spPr>
          <a:xfrm xmlns:a="http://schemas.openxmlformats.org/drawingml/2006/main">
            <a:off x="5000625" y="2079171"/>
            <a:ext cx="1714500" cy="1347107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2917f48b1467c"/>
          <a:stretch xmlns:a="http://schemas.openxmlformats.org/drawingml/2006/main"/>
        </p:blipFill>
        <p:spPr>
          <a:xfrm xmlns:a="http://schemas.openxmlformats.org/drawingml/2006/main">
            <a:off x="8858250" y="2079171"/>
            <a:ext cx="1714500" cy="13471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4864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8D5E59F-B886-4825-9B7A-8FDB1050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F8068DE-EBE9-4585-8B82-BAC1599F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Uma árvore mínima já cria fronteiras úteis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E2C87794-D630-44CA-85C5-70311E39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E4AFE15-5916-4738-A13C-EC27679F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Orientação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075BA1B0-A169-4E53-8B70-FE5427AE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667FF"/>
                </a:solidFill>
                <a:latin typeface="DejaVu Sans Mono"/>
                <a:ea typeface="DejaVu Sans Mono"/>
                <a:cs typeface="DejaVu Sans Mono"/>
              </a:rPr>
              <a:t>agent/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DejaVu Sans Mono"/>
                <a:ea typeface="DejaVu Sans Mono"/>
                <a:cs typeface="DejaVu Sans Mono"/>
              </a:rPr>
              <a:t>playbooks/  skills/  knowledge/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DejaVu Sans Mono"/>
                <a:ea typeface="DejaVu Sans Mono"/>
                <a:cs typeface="DejaVu Sans Mono"/>
              </a:rPr>
              <a:t>rules/  contracts/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D147167F-5A12-4373-BE0E-145EC78B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48F5B6A6-4495-4447-B8D7-2A015BEE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Verificação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64AB7784-1D45-4BFD-A232-A5A54273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667FF"/>
                </a:solidFill>
                <a:latin typeface="DejaVu Sans Mono"/>
                <a:ea typeface="DejaVu Sans Mono"/>
                <a:cs typeface="DejaVu Sans Mono"/>
              </a:rPr>
              <a:t>evals/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DejaVu Sans Mono"/>
                <a:ea typeface="DejaVu Sans Mono"/>
                <a:cs typeface="DejaVu Sans Mono"/>
              </a:rPr>
              <a:t>evidence/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DejaVu Sans Mono"/>
                <a:ea typeface="DejaVu Sans Mono"/>
                <a:cs typeface="DejaVu Sans Mono"/>
              </a:rPr>
              <a:t>README.md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B91CCDA0-25FB-465A-9093-81D9C287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667FF"/>
                </a:solidFill>
                <a:latin typeface="DejaVu Sans Mono"/>
                <a:ea typeface="DejaVu Sans Mono"/>
                <a:cs typeface="DejaVu Sans Mono"/>
              </a:rPr>
              <a:t>motor-context/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Comece com poucos diretórios, papéis claros e uma fonte de verdade por conceito.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Pastas adicionais são opcionais e só entram quando uma necessidade observável aparece.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96AE0-CA3B-43D9-8ABB-93FA7C3C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4d32d283b46ec"/>
          <a:stretch xmlns:a="http://schemas.openxmlformats.org/drawingml/2006/main"/>
        </p:blipFill>
        <p:spPr>
          <a:xfrm xmlns:a="http://schemas.openxmlformats.org/drawingml/2006/main">
            <a:off x="10001250" y="1644083"/>
            <a:ext cx="1476375" cy="11600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709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EC38C87C-DB89-42CE-AB7C-2751C506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CD0FFF39-FA41-480D-A0FF-DC1BBE98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Frontmatter separa identidade, descoberta e vigência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35BD836-DD9C-4B09-89E1-099DC011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667FF"/>
                </a:solidFill>
                <a:latin typeface="DejaVu Sans Mono"/>
                <a:ea typeface="DejaVu Sans Mono"/>
                <a:cs typeface="DejaVu Sans Mono"/>
              </a:rPr>
              <a:t>id · name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ID preserva referências; name melhora catálogo e leitura.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1114F4F-499D-404D-9C8C-66E8246A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667FF"/>
                </a:solidFill>
                <a:latin typeface="DejaVu Sans Mono"/>
                <a:ea typeface="DejaVu Sans Mono"/>
                <a:cs typeface="DejaVu Sans Mono"/>
              </a:rPr>
              <a:t>description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Orienta descoberta e seleção.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5FF5169-BEAB-4C10-9D8C-6E478A22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667FF"/>
                </a:solidFill>
                <a:latin typeface="DejaVu Sans Mono"/>
                <a:ea typeface="DejaVu Sans Mono"/>
                <a:cs typeface="DejaVu Sans Mono"/>
              </a:rPr>
              <a:t>triggers · type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Delimitam ativação e função do artefato.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FA070BF-4AFF-45D0-AB11-059E6F75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667FF"/>
                </a:solidFill>
                <a:latin typeface="DejaVu Sans Mono"/>
                <a:ea typeface="DejaVu Sans Mono"/>
                <a:cs typeface="DejaVu Sans Mono"/>
              </a:rPr>
              <a:t>owner · version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Sustenta vigência, revisão, autoridade e resolução de conflitos.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A6B5D-0703-4924-A817-1393CAAD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9fd04c90e45cd"/>
          <a:stretch xmlns:a="http://schemas.openxmlformats.org/drawingml/2006/main"/>
        </p:blipFill>
        <p:spPr>
          <a:xfrm xmlns:a="http://schemas.openxmlformats.org/drawingml/2006/main">
            <a:off x="10048875" y="1686265"/>
            <a:ext cx="1381125" cy="10851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2011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42AF508-B5B6-4BCF-B9A9-6679865A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59F3607E-0BF0-44FD-A20E-A474776C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HOT, WARM e COLD decidem quando carregar</a:t>
            </a:r>
          </a:p>
        </p:txBody>
      </p:sp>
      <p:cxnSp>
        <p:nvCxnSpPr>
          <p:cNvPr id="36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5412D56-6374-4D2B-B3AC-A1756E8B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ABE30174-95BE-4091-8DF3-25A0C465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09D2D1A4-ECFE-46CB-8235-6EE74F30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D3454BBB-BCEB-4F91-8956-93663F3F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443BF826-D7C4-41E0-BD50-041B265B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Decisão, segurança, roteamento e critérios de parada.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ADFFCE33-85D8-4136-80E9-00294CE8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FE74ACD1-CA1B-490D-A15F-6EBE672E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WARM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Playbooks e conhecimento frequente ativados por sinais claros.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A5577746-943E-41CB-BE05-35FBF8E7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7B998D95-1746-48A9-AAA1-52640D74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COLD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Deep dives, histórico e material raro recuperado quando necessário.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025128B4-04D3-4156-9D2E-51F579A7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rPr>
              <a:t>SOB DEMANDA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E516D86A-FB98-46BB-8F53-6DCA1501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SEMPRE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B9C03D83-4C53-4E06-8596-ADF96993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rPr>
              <a:t>REFERÊNCIA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BFE33-2D61-4726-BE11-41EA5B92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58a0dc3c14744"/>
          <a:stretch xmlns:a="http://schemas.openxmlformats.org/drawingml/2006/main"/>
        </p:blipFill>
        <p:spPr>
          <a:xfrm xmlns:a="http://schemas.openxmlformats.org/drawingml/2006/main">
            <a:off x="10429875" y="931409"/>
            <a:ext cx="1047750" cy="82323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2797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213E86C6-0423-40EB-ABD1-1F60FC3D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F33D9D17-FF81-472C-AB96-BBD28CFB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HOT/WARM/COLD é só um eixo do modelo híbrido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61C11F69-9711-4541-9D67-7B420BD9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Temperatura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Quando o conteúdo entra no contexto: HOT, WARM ou COLD.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731D712-468F-424E-9B7D-E2B8DE2B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Profundidade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Quanto ler: NAVIGATION, LOOKUP ou DEEPDIVE.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25B5201-E89E-49F5-83FE-B52BC1B1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Autoridade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Como interpretar: NORMATIVE, ADVISORY ou ILLUSTRATIVE.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28C710F-736B-42FF-93E6-85917D21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Tipo de artefato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 que o conteúdo faz: regra, contrato, playbook, skill ou knowledge.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3ECF0-9471-4713-B45C-0AEBA4A5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4b2260a204de8"/>
          <a:stretch xmlns:a="http://schemas.openxmlformats.org/drawingml/2006/main"/>
        </p:blipFill>
        <p:spPr>
          <a:xfrm xmlns:a="http://schemas.openxmlformats.org/drawingml/2006/main">
            <a:off x="9906000" y="4930888"/>
            <a:ext cx="1571625" cy="12348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9201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4E9178F-683E-4E63-8107-2973D434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6A1FDDC-FE94-42AB-8823-F99D8559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Economia de tokens depende da recuperação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731A698A-BA9B-4A92-B2AD-5D30ECF9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76F5DDF-38DE-4EAF-BE17-403E2301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rPr>
              <a:t>GANHO POSSÍVEL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676C5353-17B7-418E-A0E0-5037ACE3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Menor contexto inicial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Mais foco no trecho relevante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Atualização localizada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ACBFD88C-36C1-4931-A355-F3405760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BC6130EE-E6AA-4156-AEF4-1AFB4A7C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RISCO REAL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6ECA5798-7335-4BF4-8694-A14E9E54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Overfetch e duplicação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Ativação incorreta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Mais chamadas sem ganho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9FC22FC-E3DD-4AE1-AE39-E91E57E0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A promessa precisa ser tratada como hipótese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Arquivos menores não garantem prompts menores. Um roteamento ruim pode carregar conteúdo demais, repetir fontes ou perder o trecho essencial.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Meça custo por tarefa concluída, não apenas tokens por chamada.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F538D-FC4D-4B75-9BA6-A00EE6B9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b988b3c28469f"/>
          <a:stretch xmlns:a="http://schemas.openxmlformats.org/drawingml/2006/main"/>
        </p:blipFill>
        <p:spPr>
          <a:xfrm xmlns:a="http://schemas.openxmlformats.org/drawingml/2006/main">
            <a:off x="10239375" y="1728107"/>
            <a:ext cx="1238250" cy="9729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466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54BC6149-8828-421C-97BD-37C78B5B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08D6990-6F57-4533-88B0-B91DFBDD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Evidence Records tornam falhas diagnosticáveis</a:t>
            </a:r>
          </a:p>
        </p:txBody>
      </p:sp>
      <p:cxnSp>
        <p:nvCxnSpPr>
          <p:cNvPr id="33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7ABB7F4-3E2F-46DF-8ABA-080AECDE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DE94BCF8-FD46-4518-9283-A3B5CE47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6A9B76F-176E-4ABC-B9C5-BBE9E17E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D245ADA-3552-4CF7-91F8-7221E546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PREPARAR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A99F097-A036-4259-9F6C-198129B1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EXECUTAR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15297BAC-23D5-42D6-879E-86DE0F69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DIAGNOSTICAR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E9D26FE-CBD8-4447-8FF9-14AA69E7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Prompt e execução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Use prompt copiável, asserts e judge semântico apenas onde necessário.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189846B-54D3-498A-B8E7-559381C2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Caso e critérios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Informe fontes esperadas, rules, tools e resultado observável.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1ABF9F7A-35AE-45CE-9D18-1A6E3B5A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Veredito e correção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Classifique PASS, FAIL ou INCONCLUSIVE e ajuste a camada da falha.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874B4-85F8-4AC4-8DCD-D14A4418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71577b2db4832"/>
          <a:stretch xmlns:a="http://schemas.openxmlformats.org/drawingml/2006/main"/>
        </p:blipFill>
        <p:spPr>
          <a:xfrm xmlns:a="http://schemas.openxmlformats.org/drawingml/2006/main">
            <a:off x="10096500" y="1543390"/>
            <a:ext cx="1381125" cy="10851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7718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C9A2D82-D703-400A-9746-118306C3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6B1F6DA-60E2-449A-99CB-F45CD515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suíte de eval precisa localizar a camada da falha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F90E3C8F-84B3-438C-AECF-ED639A77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Seis níveis evitam uma nota única que não explica o problema.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5FB42E6-9327-4B31-AB2B-A4647981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Lexical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4C10E554-EB31-4E94-B6FA-3E6823A2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A5EA3353-8D5E-4FB7-8E72-F057DD25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DejaVu Sans Mono"/>
                <a:ea typeface="DejaVu Sans Mono"/>
                <a:cs typeface="DejaVu Sans Mono"/>
              </a:rPr>
              <a:t>Evidence Record: caso, consulta, termos, fontes recuperadas, decisão, artefatos e motivo da falha.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O registro deve permitir auditoria sem reexecutar o caso.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7DAE1A00-0E9A-4C95-92D2-9F6372E0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· Semântico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8CFFAE9B-CC8B-4C1A-B87B-074A43EB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273C2F88-28AB-4AA0-BBB6-55AF3D54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 · Contextual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CD26DB2D-E3DF-4A3D-8F5A-6F5F3E45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98B31B9D-A075-423F-8950-6BA74722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 · Negativo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8F78BB9E-8892-4367-8FAB-78F0F69C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B79FA0E6-D378-4023-8E7D-F4578101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5–6 · Aplicação e E2E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B68D5871-A441-420E-8D1D-C02D19AE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B3DDB-2683-49A2-8B29-0C36DB80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e660149e6428b"/>
          <a:stretch xmlns:a="http://schemas.openxmlformats.org/drawingml/2006/main"/>
        </p:blipFill>
        <p:spPr>
          <a:xfrm xmlns:a="http://schemas.openxmlformats.org/drawingml/2006/main">
            <a:off x="10287000" y="1437254"/>
            <a:ext cx="1190625" cy="9354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8690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E55B5D3-2E17-456D-997F-3A8D214E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507106D-DB6F-4DB3-A805-D2EB7E48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Confiabilidade melhora quando obrigação, limite e prova aparecem juntos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85113D46-3EBC-49ED-AEC3-7F3E391D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EAD9F769-C23A-45A5-8BEF-6773B7DE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D148D6F-DCED-4388-AC2C-6F8F41BC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NÃO FAÇA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Proíba atalhos perigosos e ambiguidade conhecida.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84AC778-F63D-4A19-97B6-FEF23F03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SE FALHAR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Pare, peça dado faltante e preserve evidência.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51B5AAC6-82E1-4111-91DB-3EFE9916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1494AD23-9EB5-471D-B837-2D81DD54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3DF5565F-BB68-45CD-B440-7C8B906E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95A52B60-AF34-4D65-9987-4BB659CD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rPr>
              <a:t>FAÇA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Declare ação e resultado verificável.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0D653FB5-0F8F-4BEF-9C13-FB5EC510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AC4D4240-9B01-469C-A136-77859FFE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Um checklist final não corrige uma fonte ambígua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estrutura deve informar o que fazer, o que não fazer, quando interromper e qual evidência confirma a conclusão.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Negação isolada é fraca; combine-a com comportamento positivo e fallback.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74726-745E-4BF9-9AEE-C4F2E717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9d84b3a27c4e8e"/>
          <a:stretch xmlns:a="http://schemas.openxmlformats.org/drawingml/2006/main"/>
        </p:blipFill>
        <p:spPr>
          <a:xfrm xmlns:a="http://schemas.openxmlformats.org/drawingml/2006/main">
            <a:off x="10382250" y="2436699"/>
            <a:ext cx="1095375" cy="86065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7580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C9C0913-6D06-42C6-9931-F7A3F77E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959FEA7-2FEF-4DE5-B2F6-13CDE06F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 backend, o padrão vira contrato assíncrono e evidência</a:t>
            </a:r>
          </a:p>
        </p:txBody>
      </p:sp>
      <p:cxnSp>
        <p:nvCxnSpPr>
          <p:cNvPr id="33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028E85D4-1D90-4B8B-9AA7-1D1288D6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A7110097-C9CB-48E7-81F9-3DE0870E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66BC501-9FCE-4DAA-A4B0-314E26FA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0FE31A3E-6667-4026-8647-294383AF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INICIAR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3A16882E-7303-4814-9A60-01D90B5C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EXECUTAR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277D9C-418A-47C0-87DC-EB5133FE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NOTIFICAR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17D27C12-2B37-4B0A-AD50-FE05D5E1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Job/worker processa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Executa com idempotência, checkpoints, timeout e trilha de auditoria.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A33DAEA-5660-435D-83CE-C3EADD94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API cria a operação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Valida contrato, gera correlationId e devolve estado inicial.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5E1A43DE-A903-4B11-B5A9-299663A9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SignalR atualiza a tela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Publica estado persistido; o front reconcilia eventos e consulta a API em caso de perda.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E1491-E5FA-4CE1-8887-0C5DBEA0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a3d9dbe8f4155"/>
          <a:stretch xmlns:a="http://schemas.openxmlformats.org/drawingml/2006/main"/>
        </p:blipFill>
        <p:spPr>
          <a:xfrm xmlns:a="http://schemas.openxmlformats.org/drawingml/2006/main">
            <a:off x="10096500" y="1495765"/>
            <a:ext cx="1381125" cy="10851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9309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DE8CE66-9126-4A10-B43E-B720C83C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ED5D3D8-92BC-458E-83E1-DC9CFDFB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adoção deve começar pequena e crescer por evidência</a:t>
            </a:r>
          </a:p>
        </p:txBody>
      </p:sp>
      <p:cxnSp>
        <p:nvCxnSpPr>
          <p:cNvPr id="36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36E4204B-D92B-421B-BEBD-225C643D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211A1D6-9F35-47BB-B3D0-7856123A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1CCC4DC9-CB0B-4ED0-A092-C1965A26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D4F3AB05-BA80-40CC-93AF-0D34E071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910CCAFD-3499-48D7-B3C5-335F312D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domínio e 10–20 casos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Comparar baseline, estrutura nova e custo por tarefa concluída.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001C5D6D-861A-4FA4-AE61-0A6CE5CF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D1ABC8B3-44F9-4633-A85B-53427D7E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2–3 equipes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Medir recuperabilidade, retrabalho, latência e manutenção dos artefatos.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2C5F75BA-1240-4A2C-ADEB-45FA7F07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0AB46457-FF85-4137-9B95-4D528955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Governança leve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Versionar contratos, evals e evidências; revisar exceções e remover duplicações.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87420C03-E767-4831-A2A5-25DD29F4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PILOTO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0AE75C3E-1B1B-4081-ACB4-1D99AE21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POC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3238289D-2E2F-454F-8C0B-77242846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PADRÃO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89DA8E-9ADE-4727-95BC-6C32ADF3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4f353b01b434e"/>
          <a:stretch xmlns:a="http://schemas.openxmlformats.org/drawingml/2006/main"/>
        </p:blipFill>
        <p:spPr>
          <a:xfrm xmlns:a="http://schemas.openxmlformats.org/drawingml/2006/main">
            <a:off x="10334625" y="913039"/>
            <a:ext cx="1143000" cy="8980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93703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5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2E81BAFD-9986-4A57-B923-EE2AFD59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Comece com um caso real.
Meça antes de expandir.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44615CF-343E-41CF-95D4-2830700F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D9E7FF"/>
                </a:solidFill>
                <a:latin typeface="Helvetica Neue"/>
                <a:ea typeface="Helvetica Neue"/>
                <a:cs typeface="Helvetica Neue"/>
              </a:rPr>
              <a:t>1 domínio real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D9E7FF"/>
                </a:solidFill>
                <a:latin typeface="Helvetica Neue"/>
                <a:ea typeface="Helvetica Neue"/>
                <a:cs typeface="Helvetica Neue"/>
              </a:rPr>
              <a:t>1 baseline comparável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D9E7FF"/>
                </a:solidFill>
                <a:latin typeface="Helvetica Neue"/>
                <a:ea typeface="Helvetica Neue"/>
                <a:cs typeface="Helvetica Neue"/>
              </a:rPr>
              <a:t>1 trilha de evidências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46E29E6-C891-4BC1-98A5-C51101BE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7C2F3"/>
                </a:solidFill>
                <a:latin typeface="Helvetica Neue"/>
                <a:ea typeface="Helvetica Neue"/>
                <a:cs typeface="Helvetica Neue"/>
              </a:rPr>
              <a:t>PRÓXIMO PASSO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7728B-C943-407C-8161-32FA5E59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2e16389df4f4b"/>
          <a:stretch xmlns:a="http://schemas.openxmlformats.org/drawingml/2006/main"/>
        </p:blipFill>
        <p:spPr>
          <a:xfrm xmlns:a="http://schemas.openxmlformats.org/drawingml/2006/main">
            <a:off x="9048750" y="1071563"/>
            <a:ext cx="3143250" cy="471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3623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2026-08-03T14:42:19.0460000Z</dcterms:created>
  <dcterms:modified xsi:type="dcterms:W3CDTF">2026-08-03T14:42:19.0460000Z</dcterms:modified>
</coreProperties>
</file>